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sldIdLst>
    <p:sldId id="256" r:id="rId2"/>
    <p:sldId id="405" r:id="rId3"/>
    <p:sldId id="406" r:id="rId4"/>
    <p:sldId id="407" r:id="rId5"/>
    <p:sldId id="331" r:id="rId6"/>
    <p:sldId id="334" r:id="rId7"/>
    <p:sldId id="333" r:id="rId8"/>
    <p:sldId id="340" r:id="rId9"/>
    <p:sldId id="335" r:id="rId10"/>
    <p:sldId id="408" r:id="rId11"/>
    <p:sldId id="355" r:id="rId12"/>
    <p:sldId id="354" r:id="rId13"/>
    <p:sldId id="391" r:id="rId14"/>
    <p:sldId id="388" r:id="rId15"/>
    <p:sldId id="356" r:id="rId16"/>
    <p:sldId id="357" r:id="rId17"/>
    <p:sldId id="392" r:id="rId18"/>
    <p:sldId id="363" r:id="rId19"/>
    <p:sldId id="364" r:id="rId20"/>
    <p:sldId id="365" r:id="rId21"/>
    <p:sldId id="366" r:id="rId22"/>
    <p:sldId id="401" r:id="rId23"/>
    <p:sldId id="367" r:id="rId24"/>
    <p:sldId id="368" r:id="rId25"/>
    <p:sldId id="369" r:id="rId26"/>
    <p:sldId id="370" r:id="rId27"/>
    <p:sldId id="386" r:id="rId28"/>
    <p:sldId id="371" r:id="rId29"/>
    <p:sldId id="387" r:id="rId30"/>
    <p:sldId id="372" r:id="rId31"/>
    <p:sldId id="393" r:id="rId32"/>
    <p:sldId id="389" r:id="rId33"/>
    <p:sldId id="394" r:id="rId34"/>
    <p:sldId id="403" r:id="rId35"/>
    <p:sldId id="395" r:id="rId36"/>
    <p:sldId id="396" r:id="rId37"/>
    <p:sldId id="397" r:id="rId38"/>
    <p:sldId id="398" r:id="rId39"/>
    <p:sldId id="399" r:id="rId40"/>
    <p:sldId id="404" r:id="rId41"/>
    <p:sldId id="402" r:id="rId42"/>
    <p:sldId id="400" r:id="rId43"/>
    <p:sldId id="374" r:id="rId44"/>
    <p:sldId id="375" r:id="rId45"/>
    <p:sldId id="376" r:id="rId46"/>
    <p:sldId id="377" r:id="rId47"/>
    <p:sldId id="378" r:id="rId48"/>
    <p:sldId id="379" r:id="rId49"/>
    <p:sldId id="380" r:id="rId50"/>
    <p:sldId id="381" r:id="rId51"/>
    <p:sldId id="382" r:id="rId52"/>
    <p:sldId id="383" r:id="rId53"/>
    <p:sldId id="384" r:id="rId5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autoAdjust="0"/>
  </p:normalViewPr>
  <p:slideViewPr>
    <p:cSldViewPr>
      <p:cViewPr varScale="1">
        <p:scale>
          <a:sx n="72" d="100"/>
          <a:sy n="72" d="100"/>
        </p:scale>
        <p:origin x="618"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213" name="Group 21"/>
          <p:cNvGrpSpPr>
            <a:grpSpLocks/>
          </p:cNvGrpSpPr>
          <p:nvPr/>
        </p:nvGrpSpPr>
        <p:grpSpPr bwMode="auto">
          <a:xfrm>
            <a:off x="0" y="0"/>
            <a:ext cx="7823200" cy="6858000"/>
            <a:chOff x="0" y="0"/>
            <a:chExt cx="3696" cy="4320"/>
          </a:xfrm>
        </p:grpSpPr>
        <p:sp>
          <p:nvSpPr>
            <p:cNvPr id="8194" name="Rectangle 2"/>
            <p:cNvSpPr>
              <a:spLocks noChangeArrowheads="1"/>
            </p:cNvSpPr>
            <p:nvPr/>
          </p:nvSpPr>
          <p:spPr bwMode="auto">
            <a:xfrm>
              <a:off x="0" y="0"/>
              <a:ext cx="2880" cy="432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imes New Roman" pitchFamily="18" charset="0"/>
              </a:endParaRPr>
            </a:p>
          </p:txBody>
        </p:sp>
        <p:sp>
          <p:nvSpPr>
            <p:cNvPr id="8195" name="AutoShape 3"/>
            <p:cNvSpPr>
              <a:spLocks noChangeArrowheads="1"/>
            </p:cNvSpPr>
            <p:nvPr/>
          </p:nvSpPr>
          <p:spPr bwMode="white">
            <a:xfrm>
              <a:off x="432" y="624"/>
              <a:ext cx="3264" cy="1200"/>
            </a:xfrm>
            <a:prstGeom prst="roundRect">
              <a:avLst>
                <a:gd name="adj" fmla="val 50000"/>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imes New Roman" pitchFamily="18" charset="0"/>
              </a:endParaRPr>
            </a:p>
          </p:txBody>
        </p:sp>
      </p:grpSp>
      <p:grpSp>
        <p:nvGrpSpPr>
          <p:cNvPr id="8210" name="Group 18"/>
          <p:cNvGrpSpPr>
            <a:grpSpLocks/>
          </p:cNvGrpSpPr>
          <p:nvPr/>
        </p:nvGrpSpPr>
        <p:grpSpPr bwMode="auto">
          <a:xfrm>
            <a:off x="4842933" y="4889500"/>
            <a:ext cx="6502400" cy="319088"/>
            <a:chOff x="2288" y="3080"/>
            <a:chExt cx="3072" cy="201"/>
          </a:xfrm>
        </p:grpSpPr>
        <p:sp>
          <p:nvSpPr>
            <p:cNvPr id="8204" name="AutoShape 12"/>
            <p:cNvSpPr>
              <a:spLocks noChangeArrowheads="1"/>
            </p:cNvSpPr>
            <p:nvPr/>
          </p:nvSpPr>
          <p:spPr bwMode="auto">
            <a:xfrm flipH="1">
              <a:off x="2288" y="3080"/>
              <a:ext cx="2914" cy="200"/>
            </a:xfrm>
            <a:prstGeom prst="roundRect">
              <a:avLst>
                <a:gd name="adj" fmla="val 0"/>
              </a:avLst>
            </a:prstGeom>
            <a:solidFill>
              <a:schemeClr va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5" name="AutoShape 13"/>
            <p:cNvSpPr>
              <a:spLocks noChangeArrowheads="1"/>
            </p:cNvSpPr>
            <p:nvPr/>
          </p:nvSpPr>
          <p:spPr bwMode="auto">
            <a:xfrm>
              <a:off x="5196" y="3080"/>
              <a:ext cx="164" cy="201"/>
            </a:xfrm>
            <a:prstGeom prst="flowChartDelay">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8197" name="Rectangle 5"/>
          <p:cNvSpPr>
            <a:spLocks noGrp="1" noChangeArrowheads="1"/>
          </p:cNvSpPr>
          <p:nvPr>
            <p:ph type="subTitle" idx="1"/>
          </p:nvPr>
        </p:nvSpPr>
        <p:spPr>
          <a:xfrm>
            <a:off x="6231467" y="2927350"/>
            <a:ext cx="5350933" cy="1822450"/>
          </a:xfrm>
        </p:spPr>
        <p:txBody>
          <a:bodyPr anchor="b"/>
          <a:lstStyle>
            <a:lvl1pPr marL="0" indent="0">
              <a:buFont typeface="Wingdings" pitchFamily="2" charset="2"/>
              <a:buNone/>
              <a:defRPr>
                <a:solidFill>
                  <a:schemeClr val="tx2"/>
                </a:solidFill>
              </a:defRPr>
            </a:lvl1pPr>
          </a:lstStyle>
          <a:p>
            <a:pPr lvl="0"/>
            <a:r>
              <a:rPr lang="en-US" altLang="en-US" noProof="0"/>
              <a:t>Click to edit Master subtitle style</a:t>
            </a:r>
          </a:p>
        </p:txBody>
      </p:sp>
      <p:sp>
        <p:nvSpPr>
          <p:cNvPr id="8206" name="Rectangle 14"/>
          <p:cNvSpPr>
            <a:spLocks noGrp="1" noChangeArrowheads="1"/>
          </p:cNvSpPr>
          <p:nvPr>
            <p:ph type="dt" sz="quarter" idx="2"/>
          </p:nvPr>
        </p:nvSpPr>
        <p:spPr/>
        <p:txBody>
          <a:bodyPr/>
          <a:lstStyle>
            <a:lvl1pPr>
              <a:defRPr>
                <a:solidFill>
                  <a:schemeClr val="bg1"/>
                </a:solidFill>
              </a:defRPr>
            </a:lvl1pPr>
          </a:lstStyle>
          <a:p>
            <a:endParaRPr lang="en-US" altLang="en-US"/>
          </a:p>
        </p:txBody>
      </p:sp>
      <p:sp>
        <p:nvSpPr>
          <p:cNvPr id="8207" name="Rectangle 15"/>
          <p:cNvSpPr>
            <a:spLocks noGrp="1" noChangeArrowheads="1"/>
          </p:cNvSpPr>
          <p:nvPr>
            <p:ph type="ftr" sz="quarter" idx="3"/>
          </p:nvPr>
        </p:nvSpPr>
        <p:spPr/>
        <p:txBody>
          <a:bodyPr/>
          <a:lstStyle>
            <a:lvl1pPr algn="r">
              <a:defRPr/>
            </a:lvl1pPr>
          </a:lstStyle>
          <a:p>
            <a:endParaRPr lang="en-US" altLang="en-US"/>
          </a:p>
        </p:txBody>
      </p:sp>
      <p:sp>
        <p:nvSpPr>
          <p:cNvPr id="8209" name="Rectangle 17"/>
          <p:cNvSpPr>
            <a:spLocks noGrp="1" noChangeArrowheads="1"/>
          </p:cNvSpPr>
          <p:nvPr>
            <p:ph type="sldNum" sz="quarter" idx="4"/>
          </p:nvPr>
        </p:nvSpPr>
        <p:spPr>
          <a:xfrm>
            <a:off x="101601" y="6248400"/>
            <a:ext cx="783167" cy="488950"/>
          </a:xfrm>
        </p:spPr>
        <p:txBody>
          <a:bodyPr anchorCtr="0"/>
          <a:lstStyle>
            <a:lvl1pPr>
              <a:defRPr/>
            </a:lvl1pPr>
          </a:lstStyle>
          <a:p>
            <a:fld id="{9E039716-5DDC-41BB-9C21-EC589C7FBCFC}" type="slidenum">
              <a:rPr lang="en-US" altLang="en-US"/>
              <a:pPr/>
              <a:t>‹#›</a:t>
            </a:fld>
            <a:endParaRPr lang="en-US" altLang="en-US"/>
          </a:p>
        </p:txBody>
      </p:sp>
      <p:sp>
        <p:nvSpPr>
          <p:cNvPr id="8211" name="AutoShape 19"/>
          <p:cNvSpPr>
            <a:spLocks noGrp="1" noChangeArrowheads="1"/>
          </p:cNvSpPr>
          <p:nvPr>
            <p:ph type="ctrTitle" sz="quarter"/>
          </p:nvPr>
        </p:nvSpPr>
        <p:spPr>
          <a:xfrm>
            <a:off x="914400" y="990600"/>
            <a:ext cx="10972800" cy="1905000"/>
          </a:xfrm>
          <a:prstGeom prst="roundRect">
            <a:avLst>
              <a:gd name="adj" fmla="val 50000"/>
            </a:avLst>
          </a:prstGeom>
        </p:spPr>
        <p:txBody>
          <a:bodyPr anchor="ctr"/>
          <a:lstStyle>
            <a:lvl1pPr algn="ctr">
              <a:defRPr>
                <a:solidFill>
                  <a:schemeClr val="tx1"/>
                </a:solidFill>
              </a:defRPr>
            </a:lvl1pPr>
          </a:lstStyle>
          <a:p>
            <a:pPr lvl="0"/>
            <a:r>
              <a:rPr lang="en-US" altLang="en-US" noProof="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268D4270-C1FE-43C7-AED2-B7353DE0872B}" type="slidenum">
              <a:rPr lang="en-US" altLang="en-US"/>
              <a:pPr/>
              <a:t>‹#›</a:t>
            </a:fld>
            <a:endParaRPr lang="en-US" altLang="en-US"/>
          </a:p>
        </p:txBody>
      </p:sp>
    </p:spTree>
    <p:extLst>
      <p:ext uri="{BB962C8B-B14F-4D97-AF65-F5344CB8AC3E}">
        <p14:creationId xmlns:p14="http://schemas.microsoft.com/office/powerpoint/2010/main" val="1454138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03213E64-40E1-4229-A02F-B8A2F14A112E}" type="slidenum">
              <a:rPr lang="en-US" altLang="en-US"/>
              <a:pPr/>
              <a:t>‹#›</a:t>
            </a:fld>
            <a:endParaRPr lang="en-US" altLang="en-US"/>
          </a:p>
        </p:txBody>
      </p:sp>
    </p:spTree>
    <p:extLst>
      <p:ext uri="{BB962C8B-B14F-4D97-AF65-F5344CB8AC3E}">
        <p14:creationId xmlns:p14="http://schemas.microsoft.com/office/powerpoint/2010/main" val="3757065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17601" y="2362201"/>
            <a:ext cx="5027084"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47884" y="2362201"/>
            <a:ext cx="5027083"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1CDAF1AD-D3BF-4907-9AC8-B2C6DEC3EB02}" type="slidenum">
              <a:rPr lang="en-US" altLang="en-US"/>
              <a:pPr/>
              <a:t>‹#›</a:t>
            </a:fld>
            <a:endParaRPr lang="en-US" altLang="en-US"/>
          </a:p>
        </p:txBody>
      </p:sp>
    </p:spTree>
    <p:extLst>
      <p:ext uri="{BB962C8B-B14F-4D97-AF65-F5344CB8AC3E}">
        <p14:creationId xmlns:p14="http://schemas.microsoft.com/office/powerpoint/2010/main" val="2634296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
        <p:nvSpPr>
          <p:cNvPr id="9" name="Slide Number Placeholder 8"/>
          <p:cNvSpPr>
            <a:spLocks noGrp="1"/>
          </p:cNvSpPr>
          <p:nvPr>
            <p:ph type="sldNum" sz="quarter" idx="12"/>
          </p:nvPr>
        </p:nvSpPr>
        <p:spPr/>
        <p:txBody>
          <a:bodyPr/>
          <a:lstStyle>
            <a:lvl1pPr>
              <a:defRPr/>
            </a:lvl1pPr>
          </a:lstStyle>
          <a:p>
            <a:fld id="{3A7097E7-DC20-4E02-A883-E585F5FD5DB4}" type="slidenum">
              <a:rPr lang="en-US" altLang="en-US"/>
              <a:pPr/>
              <a:t>‹#›</a:t>
            </a:fld>
            <a:endParaRPr lang="en-US" altLang="en-US"/>
          </a:p>
        </p:txBody>
      </p:sp>
    </p:spTree>
    <p:extLst>
      <p:ext uri="{BB962C8B-B14F-4D97-AF65-F5344CB8AC3E}">
        <p14:creationId xmlns:p14="http://schemas.microsoft.com/office/powerpoint/2010/main" val="2002753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ltLang="en-US"/>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p:cNvSpPr>
            <a:spLocks noGrp="1"/>
          </p:cNvSpPr>
          <p:nvPr>
            <p:ph type="sldNum" sz="quarter" idx="12"/>
          </p:nvPr>
        </p:nvSpPr>
        <p:spPr/>
        <p:txBody>
          <a:bodyPr/>
          <a:lstStyle>
            <a:lvl1pPr>
              <a:defRPr/>
            </a:lvl1pPr>
          </a:lstStyle>
          <a:p>
            <a:fld id="{0CF1EFC9-242D-4A43-BFAB-9E1F68743311}" type="slidenum">
              <a:rPr lang="en-US" altLang="en-US"/>
              <a:pPr/>
              <a:t>‹#›</a:t>
            </a:fld>
            <a:endParaRPr lang="en-US" altLang="en-US"/>
          </a:p>
        </p:txBody>
      </p:sp>
    </p:spTree>
    <p:extLst>
      <p:ext uri="{BB962C8B-B14F-4D97-AF65-F5344CB8AC3E}">
        <p14:creationId xmlns:p14="http://schemas.microsoft.com/office/powerpoint/2010/main" val="80373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DE8E6F47-73DE-4DAA-8E09-D151E1F96E28}" type="slidenum">
              <a:rPr lang="en-US" altLang="en-US"/>
              <a:pPr/>
              <a:t>‹#›</a:t>
            </a:fld>
            <a:endParaRPr lang="en-US" altLang="en-US"/>
          </a:p>
        </p:txBody>
      </p:sp>
    </p:spTree>
    <p:extLst>
      <p:ext uri="{BB962C8B-B14F-4D97-AF65-F5344CB8AC3E}">
        <p14:creationId xmlns:p14="http://schemas.microsoft.com/office/powerpoint/2010/main" val="3884460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0A1C9C78-C8C4-47B6-83BA-24B3675DDD80}" type="slidenum">
              <a:rPr lang="en-US" altLang="en-US"/>
              <a:pPr/>
              <a:t>‹#›</a:t>
            </a:fld>
            <a:endParaRPr lang="en-US" altLang="en-US"/>
          </a:p>
        </p:txBody>
      </p:sp>
    </p:spTree>
    <p:extLst>
      <p:ext uri="{BB962C8B-B14F-4D97-AF65-F5344CB8AC3E}">
        <p14:creationId xmlns:p14="http://schemas.microsoft.com/office/powerpoint/2010/main" val="3639761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C8A9E1C1-AD83-4707-BE2B-A8D7DE18DA41}" type="slidenum">
              <a:rPr lang="en-US" altLang="en-US"/>
              <a:pPr/>
              <a:t>‹#›</a:t>
            </a:fld>
            <a:endParaRPr lang="en-US" altLang="en-US"/>
          </a:p>
        </p:txBody>
      </p:sp>
    </p:spTree>
    <p:extLst>
      <p:ext uri="{BB962C8B-B14F-4D97-AF65-F5344CB8AC3E}">
        <p14:creationId xmlns:p14="http://schemas.microsoft.com/office/powerpoint/2010/main" val="3012728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C1893AC5-3C9E-488E-93BC-644A0BCFA574}" type="slidenum">
              <a:rPr lang="en-US" altLang="en-US"/>
              <a:pPr/>
              <a:t>‹#›</a:t>
            </a:fld>
            <a:endParaRPr lang="en-US" altLang="en-US"/>
          </a:p>
        </p:txBody>
      </p:sp>
    </p:spTree>
    <p:extLst>
      <p:ext uri="{BB962C8B-B14F-4D97-AF65-F5344CB8AC3E}">
        <p14:creationId xmlns:p14="http://schemas.microsoft.com/office/powerpoint/2010/main" val="2356187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40800" y="762001"/>
            <a:ext cx="2641600" cy="53244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16000" y="762001"/>
            <a:ext cx="7721600" cy="53244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F7EE6B08-057B-4CB6-BE07-52AF38D55122}" type="slidenum">
              <a:rPr lang="en-US" altLang="en-US"/>
              <a:pPr/>
              <a:t>‹#›</a:t>
            </a:fld>
            <a:endParaRPr lang="en-US" altLang="en-US"/>
          </a:p>
        </p:txBody>
      </p:sp>
    </p:spTree>
    <p:extLst>
      <p:ext uri="{BB962C8B-B14F-4D97-AF65-F5344CB8AC3E}">
        <p14:creationId xmlns:p14="http://schemas.microsoft.com/office/powerpoint/2010/main" val="352854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52" name="Group 28"/>
          <p:cNvGrpSpPr>
            <a:grpSpLocks/>
          </p:cNvGrpSpPr>
          <p:nvPr/>
        </p:nvGrpSpPr>
        <p:grpSpPr bwMode="auto">
          <a:xfrm>
            <a:off x="0" y="0"/>
            <a:ext cx="10160000" cy="6858000"/>
            <a:chOff x="0" y="0"/>
            <a:chExt cx="4800" cy="4320"/>
          </a:xfrm>
        </p:grpSpPr>
        <p:grpSp>
          <p:nvGrpSpPr>
            <p:cNvPr id="1050" name="Group 26"/>
            <p:cNvGrpSpPr>
              <a:grpSpLocks/>
            </p:cNvGrpSpPr>
            <p:nvPr userDrawn="1"/>
          </p:nvGrpSpPr>
          <p:grpSpPr bwMode="auto">
            <a:xfrm>
              <a:off x="0" y="0"/>
              <a:ext cx="2016" cy="4320"/>
              <a:chOff x="0" y="0"/>
              <a:chExt cx="2016" cy="4320"/>
            </a:xfrm>
          </p:grpSpPr>
          <p:sp>
            <p:nvSpPr>
              <p:cNvPr id="1027" name="Rectangle 3"/>
              <p:cNvSpPr>
                <a:spLocks noChangeArrowheads="1"/>
              </p:cNvSpPr>
              <p:nvPr userDrawn="1"/>
            </p:nvSpPr>
            <p:spPr bwMode="auto">
              <a:xfrm>
                <a:off x="0" y="0"/>
                <a:ext cx="480" cy="432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8" name="Freeform 24"/>
              <p:cNvSpPr>
                <a:spLocks/>
              </p:cNvSpPr>
              <p:nvPr userDrawn="1"/>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045" name="Group 21"/>
            <p:cNvGrpSpPr>
              <a:grpSpLocks/>
            </p:cNvGrpSpPr>
            <p:nvPr/>
          </p:nvGrpSpPr>
          <p:grpSpPr bwMode="auto">
            <a:xfrm>
              <a:off x="144" y="1248"/>
              <a:ext cx="4656" cy="201"/>
              <a:chOff x="144" y="1248"/>
              <a:chExt cx="4656" cy="201"/>
            </a:xfrm>
          </p:grpSpPr>
          <p:sp>
            <p:nvSpPr>
              <p:cNvPr id="1036" name="AutoShape 12"/>
              <p:cNvSpPr>
                <a:spLocks noChangeArrowheads="1"/>
              </p:cNvSpPr>
              <p:nvPr/>
            </p:nvSpPr>
            <p:spPr bwMode="auto">
              <a:xfrm>
                <a:off x="384" y="1248"/>
                <a:ext cx="4416" cy="200"/>
              </a:xfrm>
              <a:prstGeom prst="roundRect">
                <a:avLst>
                  <a:gd name="adj" fmla="val 0"/>
                </a:avLst>
              </a:prstGeom>
              <a:solidFill>
                <a:schemeClr va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4" name="AutoShape 20"/>
              <p:cNvSpPr>
                <a:spLocks noChangeArrowheads="1"/>
              </p:cNvSpPr>
              <p:nvPr/>
            </p:nvSpPr>
            <p:spPr bwMode="auto">
              <a:xfrm flipH="1">
                <a:off x="144" y="1248"/>
                <a:ext cx="248" cy="201"/>
              </a:xfrm>
              <a:prstGeom prst="flowChartDelay">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1031" name="AutoShape 7"/>
          <p:cNvSpPr>
            <a:spLocks noGrp="1" noChangeArrowheads="1"/>
          </p:cNvSpPr>
          <p:nvPr>
            <p:ph type="title"/>
          </p:nvPr>
        </p:nvSpPr>
        <p:spPr bwMode="auto">
          <a:xfrm>
            <a:off x="1016000" y="762000"/>
            <a:ext cx="10566400" cy="1143000"/>
          </a:xfrm>
          <a:prstGeom prst="roundRect">
            <a:avLst>
              <a:gd name="adj" fmla="val 21667"/>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2" name="Rectangle 8"/>
          <p:cNvSpPr>
            <a:spLocks noGrp="1" noChangeArrowheads="1"/>
          </p:cNvSpPr>
          <p:nvPr>
            <p:ph type="body" idx="1"/>
          </p:nvPr>
        </p:nvSpPr>
        <p:spPr bwMode="auto">
          <a:xfrm>
            <a:off x="1117601" y="2362201"/>
            <a:ext cx="10257367"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7" name="Rectangle 13"/>
          <p:cNvSpPr>
            <a:spLocks noGrp="1" noChangeArrowheads="1"/>
          </p:cNvSpPr>
          <p:nvPr>
            <p:ph type="dt" sz="half" idx="2"/>
          </p:nvPr>
        </p:nvSpPr>
        <p:spPr bwMode="auto">
          <a:xfrm>
            <a:off x="3251201" y="6248401"/>
            <a:ext cx="2840567"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a:lvl1pPr>
          </a:lstStyle>
          <a:p>
            <a:endParaRPr lang="en-US" altLang="en-US"/>
          </a:p>
        </p:txBody>
      </p:sp>
      <p:sp>
        <p:nvSpPr>
          <p:cNvPr id="1038" name="Rectangle 14"/>
          <p:cNvSpPr>
            <a:spLocks noGrp="1" noChangeArrowheads="1"/>
          </p:cNvSpPr>
          <p:nvPr>
            <p:ph type="ftr" sz="quarter" idx="3"/>
          </p:nvPr>
        </p:nvSpPr>
        <p:spPr bwMode="auto">
          <a:xfrm>
            <a:off x="7721600" y="6248401"/>
            <a:ext cx="3862917"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a:lvl1pPr>
          </a:lstStyle>
          <a:p>
            <a:endParaRPr lang="en-US" altLang="en-US"/>
          </a:p>
        </p:txBody>
      </p:sp>
      <p:sp>
        <p:nvSpPr>
          <p:cNvPr id="1039" name="Rectangle 15"/>
          <p:cNvSpPr>
            <a:spLocks noGrp="1" noChangeArrowheads="1"/>
          </p:cNvSpPr>
          <p:nvPr>
            <p:ph type="sldNum" sz="quarter" idx="4"/>
          </p:nvPr>
        </p:nvSpPr>
        <p:spPr bwMode="auto">
          <a:xfrm>
            <a:off x="112184" y="6242050"/>
            <a:ext cx="783167"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bodyPr>
          <a:lstStyle>
            <a:lvl1pPr eaLnBrk="1" hangingPunct="1">
              <a:defRPr sz="2600" b="1">
                <a:solidFill>
                  <a:schemeClr val="bg1"/>
                </a:solidFill>
              </a:defRPr>
            </a:lvl1pPr>
          </a:lstStyle>
          <a:p>
            <a:fld id="{D143989A-D7A3-413E-AA94-DCC0321973A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xStyles>
    <p:titleStyle>
      <a:lvl1pPr algn="l" rtl="0" eaLnBrk="1" fontAlgn="base" hangingPunct="1">
        <a:lnSpc>
          <a:spcPct val="90000"/>
        </a:lnSpc>
        <a:spcBef>
          <a:spcPct val="0"/>
        </a:spcBef>
        <a:spcAft>
          <a:spcPct val="0"/>
        </a:spcAft>
        <a:defRPr sz="3600" b="1">
          <a:solidFill>
            <a:schemeClr val="tx2"/>
          </a:solidFill>
          <a:latin typeface="+mj-lt"/>
          <a:ea typeface="+mj-ea"/>
          <a:cs typeface="+mj-cs"/>
        </a:defRPr>
      </a:lvl1pPr>
      <a:lvl2pPr algn="l" rtl="0" eaLnBrk="1" fontAlgn="base" hangingPunct="1">
        <a:lnSpc>
          <a:spcPct val="90000"/>
        </a:lnSpc>
        <a:spcBef>
          <a:spcPct val="0"/>
        </a:spcBef>
        <a:spcAft>
          <a:spcPct val="0"/>
        </a:spcAft>
        <a:defRPr sz="3600" b="1">
          <a:solidFill>
            <a:schemeClr val="tx2"/>
          </a:solidFill>
          <a:latin typeface="Arial" charset="0"/>
        </a:defRPr>
      </a:lvl2pPr>
      <a:lvl3pPr algn="l" rtl="0" eaLnBrk="1" fontAlgn="base" hangingPunct="1">
        <a:lnSpc>
          <a:spcPct val="90000"/>
        </a:lnSpc>
        <a:spcBef>
          <a:spcPct val="0"/>
        </a:spcBef>
        <a:spcAft>
          <a:spcPct val="0"/>
        </a:spcAft>
        <a:defRPr sz="3600" b="1">
          <a:solidFill>
            <a:schemeClr val="tx2"/>
          </a:solidFill>
          <a:latin typeface="Arial" charset="0"/>
        </a:defRPr>
      </a:lvl3pPr>
      <a:lvl4pPr algn="l" rtl="0" eaLnBrk="1" fontAlgn="base" hangingPunct="1">
        <a:lnSpc>
          <a:spcPct val="90000"/>
        </a:lnSpc>
        <a:spcBef>
          <a:spcPct val="0"/>
        </a:spcBef>
        <a:spcAft>
          <a:spcPct val="0"/>
        </a:spcAft>
        <a:defRPr sz="3600" b="1">
          <a:solidFill>
            <a:schemeClr val="tx2"/>
          </a:solidFill>
          <a:latin typeface="Arial" charset="0"/>
        </a:defRPr>
      </a:lvl4pPr>
      <a:lvl5pPr algn="l" rtl="0" eaLnBrk="1" fontAlgn="base" hangingPunct="1">
        <a:lnSpc>
          <a:spcPct val="90000"/>
        </a:lnSpc>
        <a:spcBef>
          <a:spcPct val="0"/>
        </a:spcBef>
        <a:spcAft>
          <a:spcPct val="0"/>
        </a:spcAft>
        <a:defRPr sz="3600" b="1">
          <a:solidFill>
            <a:schemeClr val="tx2"/>
          </a:solidFill>
          <a:latin typeface="Arial" charset="0"/>
        </a:defRPr>
      </a:lvl5pPr>
      <a:lvl6pPr marL="457200" algn="l" rtl="0" eaLnBrk="1" fontAlgn="base" hangingPunct="1">
        <a:lnSpc>
          <a:spcPct val="90000"/>
        </a:lnSpc>
        <a:spcBef>
          <a:spcPct val="0"/>
        </a:spcBef>
        <a:spcAft>
          <a:spcPct val="0"/>
        </a:spcAft>
        <a:defRPr sz="3600" b="1">
          <a:solidFill>
            <a:schemeClr val="tx2"/>
          </a:solidFill>
          <a:latin typeface="Arial" charset="0"/>
        </a:defRPr>
      </a:lvl6pPr>
      <a:lvl7pPr marL="914400" algn="l" rtl="0" eaLnBrk="1" fontAlgn="base" hangingPunct="1">
        <a:lnSpc>
          <a:spcPct val="90000"/>
        </a:lnSpc>
        <a:spcBef>
          <a:spcPct val="0"/>
        </a:spcBef>
        <a:spcAft>
          <a:spcPct val="0"/>
        </a:spcAft>
        <a:defRPr sz="3600" b="1">
          <a:solidFill>
            <a:schemeClr val="tx2"/>
          </a:solidFill>
          <a:latin typeface="Arial" charset="0"/>
        </a:defRPr>
      </a:lvl7pPr>
      <a:lvl8pPr marL="1371600" algn="l" rtl="0" eaLnBrk="1" fontAlgn="base" hangingPunct="1">
        <a:lnSpc>
          <a:spcPct val="90000"/>
        </a:lnSpc>
        <a:spcBef>
          <a:spcPct val="0"/>
        </a:spcBef>
        <a:spcAft>
          <a:spcPct val="0"/>
        </a:spcAft>
        <a:defRPr sz="3600" b="1">
          <a:solidFill>
            <a:schemeClr val="tx2"/>
          </a:solidFill>
          <a:latin typeface="Arial" charset="0"/>
        </a:defRPr>
      </a:lvl8pPr>
      <a:lvl9pPr marL="1828800" algn="l" rtl="0" eaLnBrk="1" fontAlgn="base" hangingPunct="1">
        <a:lnSpc>
          <a:spcPct val="90000"/>
        </a:lnSpc>
        <a:spcBef>
          <a:spcPct val="0"/>
        </a:spcBef>
        <a:spcAft>
          <a:spcPct val="0"/>
        </a:spcAft>
        <a:defRPr sz="3600" b="1">
          <a:solidFill>
            <a:schemeClr val="tx2"/>
          </a:solidFill>
          <a:latin typeface="Arial" charset="0"/>
        </a:defRPr>
      </a:lvl9pPr>
    </p:titleStyle>
    <p:bodyStyle>
      <a:lvl1pPr marL="342900" indent="-342900" algn="l" rtl="0" eaLnBrk="1" fontAlgn="base" hangingPunct="1">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SzPct val="75000"/>
        <a:buChar char="–"/>
        <a:defRPr sz="2400">
          <a:solidFill>
            <a:schemeClr val="tx1"/>
          </a:solidFill>
          <a:latin typeface="+mn-lt"/>
        </a:defRPr>
      </a:lvl2pPr>
      <a:lvl3pPr marL="1143000" indent="-228600" algn="l" rtl="0" eaLnBrk="1" fontAlgn="base" hangingPunct="1">
        <a:spcBef>
          <a:spcPct val="20000"/>
        </a:spcBef>
        <a:spcAft>
          <a:spcPct val="0"/>
        </a:spcAft>
        <a:buClr>
          <a:schemeClr val="tx1"/>
        </a:buClr>
        <a:buSzPct val="75000"/>
        <a:buFont typeface="Wingdings" pitchFamily="2" charset="2"/>
        <a:buChar char="l"/>
        <a:defRPr sz="2000">
          <a:solidFill>
            <a:schemeClr val="tx1"/>
          </a:solidFill>
          <a:latin typeface="+mn-lt"/>
        </a:defRPr>
      </a:lvl3pPr>
      <a:lvl4pPr marL="1600200" indent="-228600" algn="l" rtl="0" eaLnBrk="1" fontAlgn="base" hangingPunct="1">
        <a:spcBef>
          <a:spcPct val="20000"/>
        </a:spcBef>
        <a:spcAft>
          <a:spcPct val="0"/>
        </a:spcAft>
        <a:buClr>
          <a:schemeClr val="tx1"/>
        </a:buClr>
        <a:buSzPct val="80000"/>
        <a:buChar char="–"/>
        <a:defRPr>
          <a:solidFill>
            <a:schemeClr val="tx1"/>
          </a:solidFill>
          <a:latin typeface="+mn-lt"/>
        </a:defRPr>
      </a:lvl4pPr>
      <a:lvl5pPr marL="20574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5pPr>
      <a:lvl6pPr marL="25146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sz="quarter"/>
          </p:nvPr>
        </p:nvSpPr>
        <p:spPr/>
        <p:txBody>
          <a:bodyPr/>
          <a:lstStyle/>
          <a:p>
            <a:r>
              <a:rPr lang="en-US" dirty="0"/>
              <a:t>Design</a:t>
            </a:r>
          </a:p>
        </p:txBody>
      </p:sp>
    </p:spTree>
    <p:extLst>
      <p:ext uri="{BB962C8B-B14F-4D97-AF65-F5344CB8AC3E}">
        <p14:creationId xmlns:p14="http://schemas.microsoft.com/office/powerpoint/2010/main" val="1830528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28E3-0B87-E9DF-F785-F0694CC82F97}"/>
              </a:ext>
            </a:extLst>
          </p:cNvPr>
          <p:cNvSpPr>
            <a:spLocks noGrp="1"/>
          </p:cNvSpPr>
          <p:nvPr>
            <p:ph type="title"/>
          </p:nvPr>
        </p:nvSpPr>
        <p:spPr/>
        <p:txBody>
          <a:bodyPr/>
          <a:lstStyle/>
          <a:p>
            <a:r>
              <a:rPr lang="en-US" dirty="0"/>
              <a:t>Software Design</a:t>
            </a:r>
          </a:p>
        </p:txBody>
      </p:sp>
      <p:sp>
        <p:nvSpPr>
          <p:cNvPr id="3" name="Content Placeholder 2">
            <a:extLst>
              <a:ext uri="{FF2B5EF4-FFF2-40B4-BE49-F238E27FC236}">
                <a16:creationId xmlns:a16="http://schemas.microsoft.com/office/drawing/2014/main" id="{A40EAAE2-1E1B-21D1-C0E9-29E411A0FFCF}"/>
              </a:ext>
            </a:extLst>
          </p:cNvPr>
          <p:cNvSpPr>
            <a:spLocks noGrp="1"/>
          </p:cNvSpPr>
          <p:nvPr>
            <p:ph idx="1"/>
          </p:nvPr>
        </p:nvSpPr>
        <p:spPr/>
        <p:txBody>
          <a:bodyPr/>
          <a:lstStyle/>
          <a:p>
            <a:pPr algn="just">
              <a:lnSpc>
                <a:spcPct val="150000"/>
              </a:lnSpc>
            </a:pPr>
            <a:r>
              <a:rPr lang="en-US" sz="2400" dirty="0"/>
              <a:t>Software design is a mechanism to transform user requirements into some suitable form, which helps the programmer in software coding and implementation. It deals with representing the client's requirement, as described in SRS (Software Requirement Specification) document, into a form, i.e., easily implementable using programming language.</a:t>
            </a:r>
          </a:p>
        </p:txBody>
      </p:sp>
    </p:spTree>
    <p:extLst>
      <p:ext uri="{BB962C8B-B14F-4D97-AF65-F5344CB8AC3E}">
        <p14:creationId xmlns:p14="http://schemas.microsoft.com/office/powerpoint/2010/main" val="1945525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0D031-A642-C64E-5549-803C4BBEB151}"/>
              </a:ext>
            </a:extLst>
          </p:cNvPr>
          <p:cNvSpPr>
            <a:spLocks noGrp="1"/>
          </p:cNvSpPr>
          <p:nvPr>
            <p:ph type="title"/>
          </p:nvPr>
        </p:nvSpPr>
        <p:spPr/>
        <p:txBody>
          <a:bodyPr/>
          <a:lstStyle/>
          <a:p>
            <a:r>
              <a:rPr lang="en-US" dirty="0"/>
              <a:t>Why software design is important?</a:t>
            </a:r>
          </a:p>
        </p:txBody>
      </p:sp>
      <p:sp>
        <p:nvSpPr>
          <p:cNvPr id="3" name="Content Placeholder 2">
            <a:extLst>
              <a:ext uri="{FF2B5EF4-FFF2-40B4-BE49-F238E27FC236}">
                <a16:creationId xmlns:a16="http://schemas.microsoft.com/office/drawing/2014/main" id="{4D05071D-1918-3529-D69D-F94D675535FA}"/>
              </a:ext>
            </a:extLst>
          </p:cNvPr>
          <p:cNvSpPr>
            <a:spLocks noGrp="1"/>
          </p:cNvSpPr>
          <p:nvPr>
            <p:ph idx="1"/>
          </p:nvPr>
        </p:nvSpPr>
        <p:spPr/>
        <p:txBody>
          <a:bodyPr/>
          <a:lstStyle/>
          <a:p>
            <a:pPr algn="just"/>
            <a:r>
              <a:rPr lang="en-US" b="0" i="0" dirty="0">
                <a:solidFill>
                  <a:srgbClr val="292929"/>
                </a:solidFill>
                <a:effectLst/>
                <a:latin typeface="source-serif-pro"/>
              </a:rPr>
              <a:t>Better designed software is more </a:t>
            </a:r>
            <a:r>
              <a:rPr lang="en-US" b="1" i="0" dirty="0">
                <a:solidFill>
                  <a:srgbClr val="292929"/>
                </a:solidFill>
                <a:effectLst/>
                <a:latin typeface="source-serif-pro"/>
              </a:rPr>
              <a:t>Flexible</a:t>
            </a:r>
            <a:r>
              <a:rPr lang="en-US" b="0" i="0" dirty="0">
                <a:solidFill>
                  <a:srgbClr val="292929"/>
                </a:solidFill>
                <a:effectLst/>
                <a:latin typeface="source-serif-pro"/>
              </a:rPr>
              <a:t>. So, you can add a new component to the existing software without affecting the existing software.</a:t>
            </a:r>
          </a:p>
          <a:p>
            <a:pPr algn="just"/>
            <a:r>
              <a:rPr lang="en-US" b="0" i="0" dirty="0">
                <a:solidFill>
                  <a:srgbClr val="292929"/>
                </a:solidFill>
                <a:effectLst/>
                <a:latin typeface="source-serif-pro"/>
              </a:rPr>
              <a:t>Well-designed software increases </a:t>
            </a:r>
            <a:r>
              <a:rPr lang="en-US" b="1" i="0" dirty="0">
                <a:solidFill>
                  <a:srgbClr val="292929"/>
                </a:solidFill>
                <a:effectLst/>
                <a:latin typeface="source-serif-pro"/>
              </a:rPr>
              <a:t>Reusability</a:t>
            </a:r>
            <a:r>
              <a:rPr lang="en-US" b="0" i="0" dirty="0">
                <a:solidFill>
                  <a:srgbClr val="292929"/>
                </a:solidFill>
                <a:effectLst/>
                <a:latin typeface="source-serif-pro"/>
              </a:rPr>
              <a:t>. Because if you follow design patterns strictly, your software would be more modular.</a:t>
            </a:r>
          </a:p>
          <a:p>
            <a:pPr algn="just"/>
            <a:r>
              <a:rPr lang="en-US" b="1" i="0" dirty="0">
                <a:solidFill>
                  <a:srgbClr val="292929"/>
                </a:solidFill>
                <a:effectLst/>
                <a:latin typeface="source-serif-pro"/>
              </a:rPr>
              <a:t>Easy to understand. </a:t>
            </a:r>
            <a:r>
              <a:rPr lang="en-US" b="0" i="0" dirty="0">
                <a:solidFill>
                  <a:srgbClr val="292929"/>
                </a:solidFill>
                <a:effectLst/>
                <a:latin typeface="source-serif-pro"/>
              </a:rPr>
              <a:t>It has been always a headache to explain projects to new hires/team members. But if you have good design &amp; documentation, you can easily communicate the idea of the software to your new team member.</a:t>
            </a:r>
          </a:p>
          <a:p>
            <a:pPr algn="just"/>
            <a:endParaRPr lang="en-US" dirty="0">
              <a:solidFill>
                <a:srgbClr val="292929"/>
              </a:solidFill>
              <a:latin typeface="source-serif-pro"/>
            </a:endParaRPr>
          </a:p>
          <a:p>
            <a:pPr algn="just"/>
            <a:endParaRPr lang="en-US" dirty="0"/>
          </a:p>
        </p:txBody>
      </p:sp>
    </p:spTree>
    <p:extLst>
      <p:ext uri="{BB962C8B-B14F-4D97-AF65-F5344CB8AC3E}">
        <p14:creationId xmlns:p14="http://schemas.microsoft.com/office/powerpoint/2010/main" val="2051283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F3AE6-5005-218E-EFBC-237753B63301}"/>
              </a:ext>
            </a:extLst>
          </p:cNvPr>
          <p:cNvSpPr>
            <a:spLocks noGrp="1"/>
          </p:cNvSpPr>
          <p:nvPr>
            <p:ph type="title"/>
          </p:nvPr>
        </p:nvSpPr>
        <p:spPr/>
        <p:txBody>
          <a:bodyPr/>
          <a:lstStyle/>
          <a:p>
            <a:r>
              <a:rPr lang="en-US" dirty="0"/>
              <a:t>Why software design is important?</a:t>
            </a:r>
          </a:p>
        </p:txBody>
      </p:sp>
      <p:sp>
        <p:nvSpPr>
          <p:cNvPr id="3" name="Content Placeholder 2">
            <a:extLst>
              <a:ext uri="{FF2B5EF4-FFF2-40B4-BE49-F238E27FC236}">
                <a16:creationId xmlns:a16="http://schemas.microsoft.com/office/drawing/2014/main" id="{D55A7C34-2521-A17D-3295-3F470728BA23}"/>
              </a:ext>
            </a:extLst>
          </p:cNvPr>
          <p:cNvSpPr>
            <a:spLocks noGrp="1"/>
          </p:cNvSpPr>
          <p:nvPr>
            <p:ph idx="1"/>
          </p:nvPr>
        </p:nvSpPr>
        <p:spPr>
          <a:xfrm>
            <a:off x="1117601" y="2362201"/>
            <a:ext cx="10566400" cy="3724275"/>
          </a:xfrm>
        </p:spPr>
        <p:txBody>
          <a:bodyPr/>
          <a:lstStyle/>
          <a:p>
            <a:pPr algn="just"/>
            <a:r>
              <a:rPr lang="en-US" b="1" i="0" dirty="0">
                <a:solidFill>
                  <a:srgbClr val="292929"/>
                </a:solidFill>
                <a:effectLst/>
                <a:latin typeface="source-serif-pro"/>
              </a:rPr>
              <a:t>Cost-efficiency is increased</a:t>
            </a:r>
            <a:r>
              <a:rPr lang="en-US" b="0" i="0" dirty="0">
                <a:solidFill>
                  <a:srgbClr val="292929"/>
                </a:solidFill>
                <a:effectLst/>
                <a:latin typeface="source-serif-pro"/>
              </a:rPr>
              <a:t>. You might be thinking how can designing can affect the cost of the software. To understand this, consider a situation in which you and your team started building software based on some assumptions, but after developing 50% of the software, you realize that you’ve met a dead-end and you can’t go ahead with those assumptions. Now, you’ll have to start the software again which would definitely be very costly. So, if you’ve focused on the design first, you could have figured out the dead-end earlier and saved a lot of time, work-force and money. Always remember, “Designing is far more cost-efficient than developing”</a:t>
            </a:r>
          </a:p>
          <a:p>
            <a:pPr algn="just"/>
            <a:endParaRPr lang="en-US" dirty="0"/>
          </a:p>
        </p:txBody>
      </p:sp>
    </p:spTree>
    <p:extLst>
      <p:ext uri="{BB962C8B-B14F-4D97-AF65-F5344CB8AC3E}">
        <p14:creationId xmlns:p14="http://schemas.microsoft.com/office/powerpoint/2010/main" val="3516112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itchFamily="18" charset="0"/>
                <a:cs typeface="Times New Roman" pitchFamily="18" charset="0"/>
              </a:rPr>
              <a:t>Software Design Approaches</a:t>
            </a:r>
            <a:endParaRPr lang="en-US" dirty="0"/>
          </a:p>
        </p:txBody>
      </p:sp>
      <p:sp>
        <p:nvSpPr>
          <p:cNvPr id="3" name="Content Placeholder 2"/>
          <p:cNvSpPr>
            <a:spLocks noGrp="1"/>
          </p:cNvSpPr>
          <p:nvPr>
            <p:ph idx="1"/>
          </p:nvPr>
        </p:nvSpPr>
        <p:spPr>
          <a:xfrm>
            <a:off x="1016000" y="2286000"/>
            <a:ext cx="10642600" cy="4572000"/>
          </a:xfrm>
        </p:spPr>
        <p:txBody>
          <a:bodyPr/>
          <a:lstStyle/>
          <a:p>
            <a:pPr marL="0" indent="0">
              <a:buNone/>
            </a:pPr>
            <a:r>
              <a:rPr lang="en-US" sz="2000" b="1" dirty="0">
                <a:solidFill>
                  <a:srgbClr val="C00000"/>
                </a:solidFill>
                <a:cs typeface="Times New Roman" pitchFamily="18" charset="0"/>
              </a:rPr>
              <a:t>Top-down design</a:t>
            </a:r>
            <a:r>
              <a:rPr lang="en-US" sz="2000" b="1" dirty="0">
                <a:solidFill>
                  <a:srgbClr val="C00000"/>
                </a:solidFill>
                <a:latin typeface="Times New Roman" pitchFamily="18" charset="0"/>
                <a:cs typeface="Times New Roman" pitchFamily="18" charset="0"/>
              </a:rPr>
              <a:t>:</a:t>
            </a:r>
          </a:p>
          <a:p>
            <a:r>
              <a:rPr lang="en-US" sz="2000" dirty="0">
                <a:solidFill>
                  <a:srgbClr val="000000"/>
                </a:solidFill>
                <a:cs typeface="Times New Roman" pitchFamily="18" charset="0"/>
              </a:rPr>
              <a:t>The top-down approach, also known as step-wise design, essentially breaks a system or model down into component sub-systems, each of which may broken down further.</a:t>
            </a:r>
            <a:endParaRPr lang="en-US" sz="2000" dirty="0">
              <a:solidFill>
                <a:srgbClr val="000000"/>
              </a:solidFill>
              <a:latin typeface="Times New Roman" pitchFamily="18" charset="0"/>
              <a:cs typeface="Times New Roman" pitchFamily="18" charset="0"/>
            </a:endParaRPr>
          </a:p>
          <a:p>
            <a:pPr marL="0" indent="0">
              <a:buNone/>
            </a:pPr>
            <a:r>
              <a:rPr lang="en-US" sz="2000" b="1" dirty="0">
                <a:solidFill>
                  <a:srgbClr val="C00000"/>
                </a:solidFill>
                <a:cs typeface="Times New Roman" pitchFamily="18" charset="0"/>
              </a:rPr>
              <a:t>Bottom-up Design</a:t>
            </a:r>
          </a:p>
          <a:p>
            <a:pPr marL="0" indent="0"/>
            <a:r>
              <a:rPr lang="en-US" sz="2000" dirty="0">
                <a:solidFill>
                  <a:srgbClr val="000000"/>
                </a:solidFill>
              </a:rPr>
              <a:t>  The bottom up design model starts with most specific and basic components. It proceeds with composing higher level of components by using basic or lower level components.</a:t>
            </a:r>
          </a:p>
          <a:p>
            <a:pPr marL="0" indent="0"/>
            <a:r>
              <a:rPr lang="en-US" sz="2000" dirty="0">
                <a:solidFill>
                  <a:srgbClr val="000000"/>
                </a:solidFill>
              </a:rPr>
              <a:t>   It keeps creating higher level components until the desired system is not evolved as one single component. With each higher level, the amount of abstraction is increased.</a:t>
            </a:r>
            <a:endParaRPr lang="en-US" sz="2000" b="1" dirty="0">
              <a:solidFill>
                <a:srgbClr val="000000"/>
              </a:solidFill>
              <a:latin typeface="Times New Roman" pitchFamily="18" charset="0"/>
              <a:cs typeface="Times New Roman" pitchFamily="18" charset="0"/>
            </a:endParaRPr>
          </a:p>
          <a:p>
            <a:r>
              <a:rPr lang="en-US" sz="2000" dirty="0">
                <a:solidFill>
                  <a:srgbClr val="000000"/>
                </a:solidFill>
                <a:cs typeface="Times New Roman" pitchFamily="18" charset="0"/>
              </a:rPr>
              <a:t>Bottom-up Approaches is more suitable when a system needs to be created from some existing system, where the basic primitives can be used in the newer system</a:t>
            </a:r>
            <a:br>
              <a:rPr lang="en-US" sz="2400" dirty="0">
                <a:latin typeface="Times New Roman" pitchFamily="18" charset="0"/>
                <a:cs typeface="Times New Roman" pitchFamily="18" charset="0"/>
              </a:rPr>
            </a:b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26825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762000"/>
            <a:ext cx="8382000" cy="1143000"/>
          </a:xfrm>
        </p:spPr>
        <p:txBody>
          <a:bodyPr/>
          <a:lstStyle/>
          <a:p>
            <a:pPr algn="ct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90600" y="0"/>
            <a:ext cx="10439400" cy="6858000"/>
          </a:xfrm>
        </p:spPr>
      </p:pic>
    </p:spTree>
    <p:extLst>
      <p:ext uri="{BB962C8B-B14F-4D97-AF65-F5344CB8AC3E}">
        <p14:creationId xmlns:p14="http://schemas.microsoft.com/office/powerpoint/2010/main" val="1903109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914400"/>
            <a:ext cx="7924800" cy="762000"/>
          </a:xfrm>
        </p:spPr>
        <p:txBody>
          <a:bodyPr/>
          <a:lstStyle/>
          <a:p>
            <a:pPr algn="ctr"/>
            <a:r>
              <a:rPr lang="en-US" dirty="0">
                <a:latin typeface="Times New Roman" pitchFamily="18" charset="0"/>
                <a:cs typeface="Times New Roman" pitchFamily="18" charset="0"/>
              </a:rPr>
              <a:t>Software Design Approaches</a:t>
            </a:r>
            <a:endParaRPr lang="en-US" dirty="0"/>
          </a:p>
        </p:txBody>
      </p:sp>
      <p:sp>
        <p:nvSpPr>
          <p:cNvPr id="3" name="Content Placeholder 2"/>
          <p:cNvSpPr>
            <a:spLocks noGrp="1"/>
          </p:cNvSpPr>
          <p:nvPr>
            <p:ph idx="1"/>
          </p:nvPr>
        </p:nvSpPr>
        <p:spPr>
          <a:xfrm>
            <a:off x="990600" y="2286000"/>
            <a:ext cx="10668000" cy="4419600"/>
          </a:xfrm>
        </p:spPr>
        <p:txBody>
          <a:bodyPr/>
          <a:lstStyle/>
          <a:p>
            <a:pPr marL="0" indent="0">
              <a:buNone/>
            </a:pPr>
            <a:r>
              <a:rPr lang="en-GB" sz="2400" b="1" dirty="0">
                <a:solidFill>
                  <a:srgbClr val="000000"/>
                </a:solidFill>
                <a:latin typeface="Calibri" pitchFamily="34" charset="0"/>
                <a:cs typeface="Calibri" pitchFamily="34" charset="0"/>
              </a:rPr>
              <a:t>     </a:t>
            </a:r>
            <a:r>
              <a:rPr lang="en-US" sz="2400" b="1" u="sng" dirty="0">
                <a:solidFill>
                  <a:srgbClr val="C00000"/>
                </a:solidFill>
                <a:latin typeface="Times New Roman" pitchFamily="18" charset="0"/>
                <a:cs typeface="Times New Roman" pitchFamily="18" charset="0"/>
              </a:rPr>
              <a:t>Top-down design</a:t>
            </a:r>
            <a:endParaRPr lang="en-US" sz="2400" b="1" dirty="0">
              <a:solidFill>
                <a:srgbClr val="C00000"/>
              </a:solidFill>
              <a:latin typeface="Times New Roman" pitchFamily="18" charset="0"/>
              <a:cs typeface="Times New Roman" pitchFamily="18" charset="0"/>
            </a:endParaRPr>
          </a:p>
          <a:p>
            <a:r>
              <a:rPr lang="en-US" sz="2400" dirty="0">
                <a:solidFill>
                  <a:srgbClr val="000000"/>
                </a:solidFill>
                <a:latin typeface="Times New Roman" pitchFamily="18" charset="0"/>
                <a:cs typeface="Times New Roman" pitchFamily="18" charset="0"/>
              </a:rPr>
              <a:t>Advantages</a:t>
            </a:r>
          </a:p>
          <a:p>
            <a:pPr lvl="1"/>
            <a:r>
              <a:rPr lang="en-US" dirty="0">
                <a:solidFill>
                  <a:srgbClr val="000000"/>
                </a:solidFill>
                <a:latin typeface="Times New Roman" pitchFamily="18" charset="0"/>
                <a:cs typeface="Times New Roman" pitchFamily="18" charset="0"/>
              </a:rPr>
              <a:t>It has a strong focus on specific requirements that help to make a design responsive to its requirements.</a:t>
            </a:r>
          </a:p>
          <a:p>
            <a:pPr lvl="1"/>
            <a:r>
              <a:rPr lang="en-US" dirty="0">
                <a:solidFill>
                  <a:srgbClr val="000000"/>
                </a:solidFill>
                <a:latin typeface="Times New Roman" pitchFamily="18" charset="0"/>
                <a:cs typeface="Times New Roman" pitchFamily="18" charset="0"/>
              </a:rPr>
              <a:t>At each step of refinement, the new parts become less complicated and, therefore, easier to figure out.</a:t>
            </a:r>
          </a:p>
          <a:p>
            <a:r>
              <a:rPr lang="en-US" sz="2400" dirty="0">
                <a:solidFill>
                  <a:srgbClr val="000000"/>
                </a:solidFill>
                <a:latin typeface="Times New Roman" pitchFamily="18" charset="0"/>
                <a:cs typeface="Times New Roman" pitchFamily="18" charset="0"/>
              </a:rPr>
              <a:t>Disadvantages</a:t>
            </a:r>
          </a:p>
          <a:p>
            <a:pPr lvl="1"/>
            <a:r>
              <a:rPr lang="en-US" dirty="0">
                <a:solidFill>
                  <a:srgbClr val="000000"/>
                </a:solidFill>
                <a:latin typeface="Times New Roman" pitchFamily="18" charset="0"/>
                <a:cs typeface="Times New Roman" pitchFamily="18" charset="0"/>
              </a:rPr>
              <a:t>Component-reuse is missed as the system boundaries are specification oriented</a:t>
            </a:r>
          </a:p>
          <a:p>
            <a:pPr lvl="1"/>
            <a:r>
              <a:rPr lang="en-US" dirty="0">
                <a:solidFill>
                  <a:srgbClr val="000000"/>
                </a:solidFill>
                <a:latin typeface="Times New Roman" pitchFamily="18" charset="0"/>
                <a:cs typeface="Times New Roman" pitchFamily="18" charset="0"/>
              </a:rPr>
              <a:t>Misses the benefits of well-structured simple architecture.</a:t>
            </a:r>
          </a:p>
          <a:p>
            <a:pPr>
              <a:lnSpc>
                <a:spcPct val="90000"/>
              </a:lnSpc>
              <a:buNone/>
            </a:pPr>
            <a:endParaRPr lang="en-US" dirty="0">
              <a:latin typeface="Calibri" pitchFamily="34" charset="0"/>
              <a:cs typeface="Calibri" pitchFamily="34" charset="0"/>
            </a:endParaRPr>
          </a:p>
        </p:txBody>
      </p:sp>
    </p:spTree>
    <p:extLst>
      <p:ext uri="{BB962C8B-B14F-4D97-AF65-F5344CB8AC3E}">
        <p14:creationId xmlns:p14="http://schemas.microsoft.com/office/powerpoint/2010/main" val="3551729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Software Design</a:t>
            </a:r>
            <a:r>
              <a:rPr lang="en-US" dirty="0">
                <a:latin typeface="Times New Roman" pitchFamily="18" charset="0"/>
                <a:cs typeface="Times New Roman" pitchFamily="18" charset="0"/>
              </a:rPr>
              <a:t> Approaches</a:t>
            </a:r>
            <a:endParaRPr lang="en-US" dirty="0"/>
          </a:p>
        </p:txBody>
      </p:sp>
      <p:sp>
        <p:nvSpPr>
          <p:cNvPr id="3" name="Content Placeholder 2"/>
          <p:cNvSpPr>
            <a:spLocks noGrp="1"/>
          </p:cNvSpPr>
          <p:nvPr>
            <p:ph idx="1"/>
          </p:nvPr>
        </p:nvSpPr>
        <p:spPr>
          <a:xfrm>
            <a:off x="1143000" y="2362200"/>
            <a:ext cx="10795000" cy="4267200"/>
          </a:xfrm>
        </p:spPr>
        <p:txBody>
          <a:bodyPr/>
          <a:lstStyle/>
          <a:p>
            <a:pPr marL="0" indent="0">
              <a:buClr>
                <a:srgbClr val="003366"/>
              </a:buClr>
              <a:buNone/>
            </a:pPr>
            <a:r>
              <a:rPr lang="en-US" sz="2400" b="1" u="sng" dirty="0">
                <a:solidFill>
                  <a:srgbClr val="C00000"/>
                </a:solidFill>
                <a:latin typeface="Times New Roman" pitchFamily="18" charset="0"/>
                <a:cs typeface="Times New Roman" pitchFamily="18" charset="0"/>
              </a:rPr>
              <a:t>Bottom-up design</a:t>
            </a:r>
            <a:endParaRPr lang="en-US" sz="2400" b="1" dirty="0">
              <a:solidFill>
                <a:srgbClr val="C00000"/>
              </a:solidFill>
              <a:latin typeface="Times New Roman" pitchFamily="18" charset="0"/>
              <a:cs typeface="Times New Roman" pitchFamily="18" charset="0"/>
            </a:endParaRPr>
          </a:p>
          <a:p>
            <a:pPr lvl="0">
              <a:buClr>
                <a:srgbClr val="003366"/>
              </a:buClr>
            </a:pPr>
            <a:r>
              <a:rPr lang="en-US" sz="2400" dirty="0">
                <a:solidFill>
                  <a:srgbClr val="000000"/>
                </a:solidFill>
                <a:latin typeface="Times New Roman" pitchFamily="18" charset="0"/>
                <a:cs typeface="Times New Roman" pitchFamily="18" charset="0"/>
              </a:rPr>
              <a:t>Advantages </a:t>
            </a:r>
          </a:p>
          <a:p>
            <a:pPr lvl="1">
              <a:buClr>
                <a:srgbClr val="003366"/>
              </a:buClr>
            </a:pPr>
            <a:r>
              <a:rPr lang="en-US" dirty="0">
                <a:solidFill>
                  <a:srgbClr val="000000"/>
                </a:solidFill>
                <a:latin typeface="Times New Roman" pitchFamily="18" charset="0"/>
                <a:cs typeface="Times New Roman" pitchFamily="18" charset="0"/>
              </a:rPr>
              <a:t>General solution can be reused</a:t>
            </a:r>
          </a:p>
          <a:p>
            <a:pPr lvl="1">
              <a:buClr>
                <a:srgbClr val="003366"/>
              </a:buClr>
            </a:pPr>
            <a:r>
              <a:rPr lang="en-US" dirty="0">
                <a:solidFill>
                  <a:srgbClr val="000000"/>
                </a:solidFill>
                <a:latin typeface="Times New Roman" pitchFamily="18" charset="0"/>
                <a:cs typeface="Times New Roman" pitchFamily="18" charset="0"/>
              </a:rPr>
              <a:t>It can hide low-level details of implementation</a:t>
            </a:r>
          </a:p>
          <a:p>
            <a:pPr lvl="0">
              <a:buClr>
                <a:srgbClr val="003366"/>
              </a:buClr>
            </a:pPr>
            <a:r>
              <a:rPr lang="en-US" sz="2400" dirty="0">
                <a:solidFill>
                  <a:srgbClr val="000000"/>
                </a:solidFill>
                <a:latin typeface="Times New Roman" pitchFamily="18" charset="0"/>
                <a:cs typeface="Times New Roman" pitchFamily="18" charset="0"/>
              </a:rPr>
              <a:t>Disadvantages</a:t>
            </a:r>
          </a:p>
          <a:p>
            <a:pPr lvl="1">
              <a:buClr>
                <a:srgbClr val="003366"/>
              </a:buClr>
            </a:pPr>
            <a:r>
              <a:rPr lang="en-US" dirty="0">
                <a:solidFill>
                  <a:srgbClr val="000000"/>
                </a:solidFill>
                <a:latin typeface="Times New Roman" pitchFamily="18" charset="0"/>
                <a:cs typeface="Times New Roman" pitchFamily="18" charset="0"/>
              </a:rPr>
              <a:t>It is not so closely related to structure of the problem</a:t>
            </a:r>
          </a:p>
          <a:p>
            <a:pPr lvl="1">
              <a:buClr>
                <a:srgbClr val="003366"/>
              </a:buClr>
            </a:pPr>
            <a:r>
              <a:rPr lang="en-US" dirty="0">
                <a:solidFill>
                  <a:srgbClr val="000000"/>
                </a:solidFill>
                <a:latin typeface="Times New Roman" pitchFamily="18" charset="0"/>
                <a:cs typeface="Times New Roman" pitchFamily="18" charset="0"/>
              </a:rPr>
              <a:t>It may not fit a given need</a:t>
            </a:r>
          </a:p>
          <a:p>
            <a:pPr lvl="1">
              <a:buClr>
                <a:srgbClr val="003366"/>
              </a:buClr>
            </a:pPr>
            <a:r>
              <a:rPr lang="en-US" dirty="0">
                <a:solidFill>
                  <a:srgbClr val="000000"/>
                </a:solidFill>
                <a:latin typeface="Times New Roman" pitchFamily="18" charset="0"/>
                <a:cs typeface="Times New Roman" pitchFamily="18" charset="0"/>
              </a:rPr>
              <a:t>Hard to construct and thus under-designed</a:t>
            </a:r>
          </a:p>
          <a:p>
            <a:pPr lvl="1">
              <a:buClr>
                <a:srgbClr val="003366"/>
              </a:buClr>
            </a:pPr>
            <a:r>
              <a:rPr lang="en-US" dirty="0">
                <a:solidFill>
                  <a:srgbClr val="000000"/>
                </a:solidFill>
                <a:latin typeface="Times New Roman" pitchFamily="18" charset="0"/>
                <a:cs typeface="Times New Roman" pitchFamily="18" charset="0"/>
              </a:rPr>
              <a:t>It leads to proliferation of potentially useful functions rather than the most appropriate ones</a:t>
            </a:r>
          </a:p>
          <a:p>
            <a:endParaRPr lang="en-US" dirty="0"/>
          </a:p>
        </p:txBody>
      </p:sp>
    </p:spTree>
    <p:extLst>
      <p:ext uri="{BB962C8B-B14F-4D97-AF65-F5344CB8AC3E}">
        <p14:creationId xmlns:p14="http://schemas.microsoft.com/office/powerpoint/2010/main" val="2893402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838200"/>
            <a:ext cx="8001000" cy="914400"/>
          </a:xfrm>
        </p:spPr>
        <p:txBody>
          <a:bodyPr/>
          <a:lstStyle/>
          <a:p>
            <a:pPr algn="ctr"/>
            <a:r>
              <a:rPr lang="en-US" dirty="0">
                <a:latin typeface="Times New Roman" pitchFamily="18" charset="0"/>
                <a:cs typeface="Times New Roman" pitchFamily="18" charset="0"/>
              </a:rPr>
              <a:t>Software Design Strategies</a:t>
            </a:r>
            <a:endParaRPr lang="en-US" dirty="0">
              <a:cs typeface="Calibri" pitchFamily="34" charset="0"/>
            </a:endParaRPr>
          </a:p>
        </p:txBody>
      </p:sp>
      <p:sp>
        <p:nvSpPr>
          <p:cNvPr id="4" name="Rectangle 3"/>
          <p:cNvSpPr/>
          <p:nvPr/>
        </p:nvSpPr>
        <p:spPr>
          <a:xfrm>
            <a:off x="1143000" y="2286000"/>
            <a:ext cx="10363200" cy="5016758"/>
          </a:xfrm>
          <a:prstGeom prst="rect">
            <a:avLst/>
          </a:prstGeom>
        </p:spPr>
        <p:txBody>
          <a:bodyPr wrap="square">
            <a:spAutoFit/>
          </a:bodyPr>
          <a:lstStyle/>
          <a:p>
            <a:r>
              <a:rPr lang="en-US" sz="2000" b="1" dirty="0">
                <a:solidFill>
                  <a:srgbClr val="C00000"/>
                </a:solidFill>
                <a:latin typeface="+mn-lt"/>
                <a:cs typeface="Times New Roman" pitchFamily="18" charset="0"/>
              </a:rPr>
              <a:t>Function-oriented design</a:t>
            </a:r>
            <a:endParaRPr lang="en-US" sz="2000" dirty="0">
              <a:solidFill>
                <a:srgbClr val="C00000"/>
              </a:solidFill>
              <a:latin typeface="+mn-lt"/>
              <a:cs typeface="Times New Roman" pitchFamily="18" charset="0"/>
            </a:endParaRPr>
          </a:p>
          <a:p>
            <a:pPr marL="800100" lvl="1" indent="-342900">
              <a:buFont typeface="Wingdings" pitchFamily="2" charset="2"/>
              <a:buChar char="v"/>
            </a:pPr>
            <a:r>
              <a:rPr lang="en-US" sz="2000" dirty="0">
                <a:solidFill>
                  <a:srgbClr val="000000"/>
                </a:solidFill>
                <a:latin typeface="+mn-lt"/>
                <a:cs typeface="Times New Roman" pitchFamily="18" charset="0"/>
              </a:rPr>
              <a:t>The system is viewed as something that performs a set of functions. This function may consist of sub-functions which may be split into more detailed sub-functions.</a:t>
            </a:r>
          </a:p>
          <a:p>
            <a:pPr marL="800100" lvl="1" indent="-342900">
              <a:buFont typeface="Wingdings" pitchFamily="2" charset="2"/>
              <a:buChar char="v"/>
            </a:pPr>
            <a:r>
              <a:rPr lang="en-US" sz="2000" b="0" i="0" dirty="0">
                <a:solidFill>
                  <a:srgbClr val="000000"/>
                </a:solidFill>
                <a:effectLst/>
                <a:latin typeface="Nunito" pitchFamily="2" charset="0"/>
              </a:rPr>
              <a:t>These functions are capable of performing significant task in the system</a:t>
            </a:r>
            <a:endParaRPr lang="en-US" sz="2000" dirty="0">
              <a:solidFill>
                <a:srgbClr val="000000"/>
              </a:solidFill>
              <a:latin typeface="+mn-lt"/>
              <a:cs typeface="Times New Roman" pitchFamily="18" charset="0"/>
            </a:endParaRPr>
          </a:p>
          <a:p>
            <a:pPr marL="800100" lvl="1" indent="-342900">
              <a:buFont typeface="Wingdings" pitchFamily="2" charset="2"/>
              <a:buChar char="v"/>
            </a:pPr>
            <a:r>
              <a:rPr lang="en-US" sz="2000" dirty="0">
                <a:solidFill>
                  <a:srgbClr val="000000"/>
                </a:solidFill>
                <a:latin typeface="+mn-lt"/>
                <a:cs typeface="Times New Roman" pitchFamily="18" charset="0"/>
              </a:rPr>
              <a:t>The system state is centralized and shared among different functions</a:t>
            </a:r>
          </a:p>
          <a:p>
            <a:pPr marL="800100" lvl="1" indent="-342900">
              <a:buFont typeface="Wingdings" pitchFamily="2" charset="2"/>
              <a:buChar char="v"/>
            </a:pPr>
            <a:r>
              <a:rPr lang="en-US" sz="2000" dirty="0">
                <a:solidFill>
                  <a:srgbClr val="000000"/>
                </a:solidFill>
                <a:latin typeface="+mn-lt"/>
                <a:cs typeface="Times New Roman" pitchFamily="18" charset="0"/>
              </a:rPr>
              <a:t>Top Down approach</a:t>
            </a:r>
          </a:p>
          <a:p>
            <a:pPr marL="800100" lvl="1" indent="-342900">
              <a:buFont typeface="Wingdings" pitchFamily="2" charset="2"/>
              <a:buChar char="v"/>
            </a:pPr>
            <a:r>
              <a:rPr lang="en-US" sz="2000" dirty="0">
                <a:solidFill>
                  <a:srgbClr val="000000"/>
                </a:solidFill>
                <a:latin typeface="+mn-lt"/>
                <a:cs typeface="Times New Roman" pitchFamily="18" charset="0"/>
              </a:rPr>
              <a:t>DFD is used</a:t>
            </a:r>
          </a:p>
          <a:p>
            <a:pPr lvl="1"/>
            <a:r>
              <a:rPr lang="en-US" sz="2000" b="0" i="0" u="sng" dirty="0">
                <a:effectLst/>
                <a:latin typeface="Heebo" pitchFamily="2" charset="-79"/>
                <a:cs typeface="Heebo" pitchFamily="2" charset="-79"/>
              </a:rPr>
              <a:t>Design Process</a:t>
            </a:r>
          </a:p>
          <a:p>
            <a:pPr lvl="1" algn="just">
              <a:buFont typeface="Arial" panose="020B0604020202020204" pitchFamily="34" charset="0"/>
              <a:buChar char="•"/>
            </a:pPr>
            <a:r>
              <a:rPr lang="en-US" sz="2000" b="0" i="0" dirty="0">
                <a:solidFill>
                  <a:srgbClr val="000000"/>
                </a:solidFill>
                <a:effectLst/>
                <a:latin typeface="Nunito" pitchFamily="2" charset="0"/>
              </a:rPr>
              <a:t>The whole system is seen as how data flows in the system by means of data flow diagram.</a:t>
            </a:r>
          </a:p>
          <a:p>
            <a:pPr lvl="1" algn="just">
              <a:buFont typeface="Arial" panose="020B0604020202020204" pitchFamily="34" charset="0"/>
              <a:buChar char="•"/>
            </a:pPr>
            <a:r>
              <a:rPr lang="en-US" sz="2000" b="0" i="0" dirty="0">
                <a:solidFill>
                  <a:srgbClr val="000000"/>
                </a:solidFill>
                <a:effectLst/>
                <a:latin typeface="Nunito" pitchFamily="2" charset="0"/>
              </a:rPr>
              <a:t>DFD depicts how functions changes data and state of entire system.</a:t>
            </a:r>
          </a:p>
          <a:p>
            <a:pPr lvl="1" algn="just">
              <a:buFont typeface="Arial" panose="020B0604020202020204" pitchFamily="34" charset="0"/>
              <a:buChar char="•"/>
            </a:pPr>
            <a:r>
              <a:rPr lang="en-US" sz="2000" b="0" i="0" dirty="0">
                <a:solidFill>
                  <a:srgbClr val="000000"/>
                </a:solidFill>
                <a:effectLst/>
                <a:latin typeface="Nunito" pitchFamily="2" charset="0"/>
              </a:rPr>
              <a:t>The entire system is logically broken down into smaller units known as functions on the basis of their operation in the system.</a:t>
            </a:r>
          </a:p>
          <a:p>
            <a:pPr lvl="1" algn="just">
              <a:buFont typeface="Arial" panose="020B0604020202020204" pitchFamily="34" charset="0"/>
              <a:buChar char="•"/>
            </a:pPr>
            <a:r>
              <a:rPr lang="en-US" sz="2000" b="0" i="0" dirty="0">
                <a:solidFill>
                  <a:srgbClr val="000000"/>
                </a:solidFill>
                <a:effectLst/>
                <a:latin typeface="Nunito" pitchFamily="2" charset="0"/>
              </a:rPr>
              <a:t>Each function is then described at large.</a:t>
            </a:r>
          </a:p>
          <a:p>
            <a:pPr marL="800100" lvl="1" indent="-342900">
              <a:buFont typeface="Wingdings" pitchFamily="2" charset="2"/>
              <a:buChar char="v"/>
            </a:pPr>
            <a:endParaRPr lang="en-US" sz="2000" dirty="0">
              <a:solidFill>
                <a:srgbClr val="000000"/>
              </a:solidFill>
              <a:latin typeface="+mn-lt"/>
              <a:cs typeface="Times New Roman" pitchFamily="18" charset="0"/>
            </a:endParaRPr>
          </a:p>
          <a:p>
            <a:pPr marL="800100" lvl="1" indent="-342900">
              <a:buFont typeface="Wingdings" pitchFamily="2" charset="2"/>
              <a:buChar char="v"/>
            </a:pPr>
            <a:endParaRPr lang="en-US" sz="2000" dirty="0">
              <a:solidFill>
                <a:srgbClr val="000000"/>
              </a:solidFill>
              <a:latin typeface="+mn-lt"/>
              <a:cs typeface="Times New Roman" pitchFamily="18" charset="0"/>
            </a:endParaRPr>
          </a:p>
        </p:txBody>
      </p:sp>
    </p:spTree>
    <p:extLst>
      <p:ext uri="{BB962C8B-B14F-4D97-AF65-F5344CB8AC3E}">
        <p14:creationId xmlns:p14="http://schemas.microsoft.com/office/powerpoint/2010/main" val="2713738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70F6-3BBD-A638-D2EF-EE3BED21CD2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502EEE-6D68-3FD5-4FC2-57F403A6819B}"/>
              </a:ext>
            </a:extLst>
          </p:cNvPr>
          <p:cNvSpPr>
            <a:spLocks noGrp="1"/>
          </p:cNvSpPr>
          <p:nvPr>
            <p:ph idx="1"/>
          </p:nvPr>
        </p:nvSpPr>
        <p:spPr/>
        <p:txBody>
          <a:bodyPr/>
          <a:lstStyle/>
          <a:p>
            <a:r>
              <a:rPr lang="en-US" sz="2000" b="1" dirty="0">
                <a:solidFill>
                  <a:srgbClr val="C00000"/>
                </a:solidFill>
                <a:latin typeface="+mn-lt"/>
                <a:cs typeface="Times New Roman" pitchFamily="18" charset="0"/>
              </a:rPr>
              <a:t>Object-oriented design</a:t>
            </a:r>
            <a:endParaRPr lang="en-US" sz="2000" dirty="0">
              <a:solidFill>
                <a:srgbClr val="C00000"/>
              </a:solidFill>
              <a:latin typeface="+mn-lt"/>
              <a:cs typeface="Times New Roman" pitchFamily="18" charset="0"/>
            </a:endParaRPr>
          </a:p>
          <a:p>
            <a:pPr marL="800100" lvl="1" indent="-342900">
              <a:buFont typeface="Wingdings" pitchFamily="2" charset="2"/>
              <a:buChar char="v"/>
            </a:pPr>
            <a:r>
              <a:rPr lang="en-US" sz="2000" dirty="0">
                <a:solidFill>
                  <a:srgbClr val="000000"/>
                </a:solidFill>
                <a:latin typeface="+mn-lt"/>
                <a:cs typeface="Times New Roman" pitchFamily="18" charset="0"/>
              </a:rPr>
              <a:t>The system is viewed as a collection of objects.</a:t>
            </a:r>
          </a:p>
          <a:p>
            <a:pPr marL="800100" lvl="1" indent="-342900">
              <a:buFont typeface="Wingdings" pitchFamily="2" charset="2"/>
              <a:buChar char="v"/>
            </a:pPr>
            <a:r>
              <a:rPr lang="en-US" sz="2000" dirty="0">
                <a:solidFill>
                  <a:srgbClr val="000000"/>
                </a:solidFill>
                <a:latin typeface="+mn-lt"/>
                <a:cs typeface="Times New Roman" pitchFamily="18" charset="0"/>
              </a:rPr>
              <a:t>The system state is decentralized among the objects and each object manages its own state information.</a:t>
            </a:r>
          </a:p>
          <a:p>
            <a:pPr marL="800100" lvl="1" indent="-342900">
              <a:buFont typeface="Wingdings" pitchFamily="2" charset="2"/>
              <a:buChar char="v"/>
            </a:pPr>
            <a:r>
              <a:rPr lang="en-US" sz="2000" dirty="0">
                <a:solidFill>
                  <a:srgbClr val="000000"/>
                </a:solidFill>
                <a:latin typeface="+mn-lt"/>
                <a:cs typeface="Times New Roman" pitchFamily="18" charset="0"/>
              </a:rPr>
              <a:t>Objects have their own internal data which define their state. Similar objects constitute a class. </a:t>
            </a:r>
          </a:p>
          <a:p>
            <a:pPr marL="800100" lvl="1" indent="-342900">
              <a:buFont typeface="Wingdings" pitchFamily="2" charset="2"/>
              <a:buChar char="v"/>
            </a:pPr>
            <a:r>
              <a:rPr lang="en-US" sz="2000" dirty="0">
                <a:solidFill>
                  <a:srgbClr val="000000"/>
                </a:solidFill>
                <a:latin typeface="+mn-lt"/>
                <a:cs typeface="Times New Roman" pitchFamily="18" charset="0"/>
              </a:rPr>
              <a:t>Objects communicate by message passing.</a:t>
            </a:r>
          </a:p>
          <a:p>
            <a:pPr marL="800100" lvl="1" indent="-342900">
              <a:buFont typeface="Wingdings" pitchFamily="2" charset="2"/>
              <a:buChar char="v"/>
            </a:pPr>
            <a:r>
              <a:rPr lang="en-US" sz="2000" dirty="0">
                <a:solidFill>
                  <a:srgbClr val="000000"/>
                </a:solidFill>
                <a:cs typeface="Times New Roman" pitchFamily="18" charset="0"/>
              </a:rPr>
              <a:t>Bottom-up approach</a:t>
            </a:r>
            <a:endParaRPr lang="en-US" sz="2000" dirty="0">
              <a:solidFill>
                <a:srgbClr val="000000"/>
              </a:solidFill>
              <a:latin typeface="+mn-lt"/>
              <a:cs typeface="Times New Roman" pitchFamily="18" charset="0"/>
            </a:endParaRPr>
          </a:p>
          <a:p>
            <a:endParaRPr lang="en-US" dirty="0"/>
          </a:p>
        </p:txBody>
      </p:sp>
    </p:spTree>
    <p:extLst>
      <p:ext uri="{BB962C8B-B14F-4D97-AF65-F5344CB8AC3E}">
        <p14:creationId xmlns:p14="http://schemas.microsoft.com/office/powerpoint/2010/main" val="2339879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What is a component?</a:t>
            </a:r>
          </a:p>
        </p:txBody>
      </p:sp>
      <p:sp>
        <p:nvSpPr>
          <p:cNvPr id="3" name="Content Placeholder 2"/>
          <p:cNvSpPr>
            <a:spLocks noGrp="1"/>
          </p:cNvSpPr>
          <p:nvPr>
            <p:ph idx="1"/>
          </p:nvPr>
        </p:nvSpPr>
        <p:spPr>
          <a:xfrm>
            <a:off x="1295400" y="2514600"/>
            <a:ext cx="10439400" cy="3962400"/>
          </a:xfrm>
        </p:spPr>
        <p:txBody>
          <a:bodyPr/>
          <a:lstStyle/>
          <a:p>
            <a:pPr lvl="0">
              <a:lnSpc>
                <a:spcPct val="90000"/>
              </a:lnSpc>
              <a:buClrTx/>
              <a:buSzTx/>
              <a:buFontTx/>
              <a:buChar char="•"/>
            </a:pPr>
            <a:r>
              <a:rPr lang="en-US" sz="2000" dirty="0">
                <a:solidFill>
                  <a:srgbClr val="000000"/>
                </a:solidFill>
              </a:rPr>
              <a:t>A software component is a </a:t>
            </a:r>
            <a:r>
              <a:rPr lang="en-US" sz="2000" u="sng" dirty="0">
                <a:solidFill>
                  <a:srgbClr val="000000"/>
                </a:solidFill>
              </a:rPr>
              <a:t>modular</a:t>
            </a:r>
            <a:r>
              <a:rPr lang="en-US" sz="2000" dirty="0">
                <a:solidFill>
                  <a:srgbClr val="000000"/>
                </a:solidFill>
              </a:rPr>
              <a:t> building block for computer software</a:t>
            </a:r>
          </a:p>
          <a:p>
            <a:pPr lvl="1">
              <a:lnSpc>
                <a:spcPct val="90000"/>
              </a:lnSpc>
              <a:buClrTx/>
              <a:buSzTx/>
            </a:pPr>
            <a:r>
              <a:rPr lang="en-US" sz="2000" dirty="0">
                <a:solidFill>
                  <a:srgbClr val="000000"/>
                </a:solidFill>
              </a:rPr>
              <a:t>It is a modular, deployable, and replaceable part of a system that encapsulates implementation and exposes a set of interfaces</a:t>
            </a:r>
          </a:p>
          <a:p>
            <a:pPr lvl="0">
              <a:lnSpc>
                <a:spcPct val="90000"/>
              </a:lnSpc>
              <a:buClrTx/>
              <a:buSzTx/>
              <a:buFontTx/>
              <a:buChar char="•"/>
            </a:pPr>
            <a:r>
              <a:rPr lang="en-US" sz="2000" dirty="0">
                <a:solidFill>
                  <a:srgbClr val="000000"/>
                </a:solidFill>
              </a:rPr>
              <a:t>A component communicates and collaborates with</a:t>
            </a:r>
          </a:p>
          <a:p>
            <a:pPr lvl="1">
              <a:lnSpc>
                <a:spcPct val="90000"/>
              </a:lnSpc>
              <a:buClrTx/>
              <a:buSzTx/>
            </a:pPr>
            <a:r>
              <a:rPr lang="en-US" sz="2000" dirty="0">
                <a:solidFill>
                  <a:srgbClr val="000000"/>
                </a:solidFill>
              </a:rPr>
              <a:t>Other components</a:t>
            </a:r>
          </a:p>
          <a:p>
            <a:pPr lvl="1">
              <a:lnSpc>
                <a:spcPct val="90000"/>
              </a:lnSpc>
              <a:buClrTx/>
              <a:buSzTx/>
            </a:pPr>
            <a:r>
              <a:rPr lang="en-US" sz="2000" dirty="0">
                <a:solidFill>
                  <a:srgbClr val="000000"/>
                </a:solidFill>
              </a:rPr>
              <a:t>Entities outside the boundaries of the system</a:t>
            </a:r>
          </a:p>
          <a:p>
            <a:pPr lvl="0">
              <a:lnSpc>
                <a:spcPct val="90000"/>
              </a:lnSpc>
              <a:buClrTx/>
              <a:buSzTx/>
              <a:buFontTx/>
              <a:buChar char="•"/>
            </a:pPr>
            <a:r>
              <a:rPr lang="en-US" sz="2000" dirty="0">
                <a:solidFill>
                  <a:srgbClr val="000000"/>
                </a:solidFill>
              </a:rPr>
              <a:t>Three different views of a component</a:t>
            </a:r>
          </a:p>
          <a:p>
            <a:pPr lvl="1">
              <a:lnSpc>
                <a:spcPct val="90000"/>
              </a:lnSpc>
              <a:buClrTx/>
              <a:buSzTx/>
            </a:pPr>
            <a:r>
              <a:rPr lang="en-US" sz="2000" dirty="0">
                <a:solidFill>
                  <a:srgbClr val="000000"/>
                </a:solidFill>
              </a:rPr>
              <a:t>An </a:t>
            </a:r>
            <a:r>
              <a:rPr lang="en-US" sz="2000" u="sng" dirty="0">
                <a:solidFill>
                  <a:srgbClr val="000000"/>
                </a:solidFill>
              </a:rPr>
              <a:t>object-oriented</a:t>
            </a:r>
            <a:r>
              <a:rPr lang="en-US" sz="2000" dirty="0">
                <a:solidFill>
                  <a:srgbClr val="000000"/>
                </a:solidFill>
              </a:rPr>
              <a:t> view</a:t>
            </a:r>
          </a:p>
          <a:p>
            <a:pPr lvl="1">
              <a:lnSpc>
                <a:spcPct val="90000"/>
              </a:lnSpc>
              <a:buClrTx/>
              <a:buSzTx/>
            </a:pPr>
            <a:r>
              <a:rPr lang="en-US" sz="2000" dirty="0">
                <a:solidFill>
                  <a:srgbClr val="000000"/>
                </a:solidFill>
              </a:rPr>
              <a:t>A </a:t>
            </a:r>
            <a:r>
              <a:rPr lang="en-US" sz="2000" u="sng" dirty="0">
                <a:solidFill>
                  <a:srgbClr val="000000"/>
                </a:solidFill>
              </a:rPr>
              <a:t>conventional</a:t>
            </a:r>
            <a:r>
              <a:rPr lang="en-US" sz="2000" dirty="0">
                <a:solidFill>
                  <a:srgbClr val="000000"/>
                </a:solidFill>
              </a:rPr>
              <a:t> view</a:t>
            </a:r>
          </a:p>
          <a:p>
            <a:pPr lvl="1">
              <a:lnSpc>
                <a:spcPct val="90000"/>
              </a:lnSpc>
              <a:buClrTx/>
              <a:buSzTx/>
            </a:pPr>
            <a:r>
              <a:rPr lang="en-US" sz="2000" dirty="0">
                <a:solidFill>
                  <a:srgbClr val="000000"/>
                </a:solidFill>
              </a:rPr>
              <a:t>A </a:t>
            </a:r>
            <a:r>
              <a:rPr lang="en-US" sz="2000" u="sng" dirty="0">
                <a:solidFill>
                  <a:srgbClr val="000000"/>
                </a:solidFill>
              </a:rPr>
              <a:t>process-related</a:t>
            </a:r>
            <a:r>
              <a:rPr lang="en-US" sz="2000" dirty="0">
                <a:solidFill>
                  <a:srgbClr val="000000"/>
                </a:solidFill>
              </a:rPr>
              <a:t> view</a:t>
            </a:r>
          </a:p>
          <a:p>
            <a:endParaRPr lang="en-US" dirty="0"/>
          </a:p>
          <a:p>
            <a:endParaRPr lang="en-US" dirty="0"/>
          </a:p>
        </p:txBody>
      </p:sp>
    </p:spTree>
    <p:extLst>
      <p:ext uri="{BB962C8B-B14F-4D97-AF65-F5344CB8AC3E}">
        <p14:creationId xmlns:p14="http://schemas.microsoft.com/office/powerpoint/2010/main" val="1270469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What is Comp. Level Design?</a:t>
            </a:r>
          </a:p>
        </p:txBody>
      </p:sp>
      <p:sp>
        <p:nvSpPr>
          <p:cNvPr id="3" name="Content Placeholder 2"/>
          <p:cNvSpPr>
            <a:spLocks noGrp="1"/>
          </p:cNvSpPr>
          <p:nvPr>
            <p:ph idx="1"/>
          </p:nvPr>
        </p:nvSpPr>
        <p:spPr>
          <a:xfrm>
            <a:off x="1143000" y="2133600"/>
            <a:ext cx="10668000" cy="4572000"/>
          </a:xfrm>
        </p:spPr>
        <p:txBody>
          <a:bodyPr/>
          <a:lstStyle/>
          <a:p>
            <a:pPr algn="just">
              <a:lnSpc>
                <a:spcPct val="150000"/>
              </a:lnSpc>
            </a:pPr>
            <a:endParaRPr lang="en-US" sz="2000" dirty="0">
              <a:solidFill>
                <a:srgbClr val="000000"/>
              </a:solidFill>
            </a:endParaRPr>
          </a:p>
          <a:p>
            <a:pPr algn="just">
              <a:lnSpc>
                <a:spcPct val="150000"/>
              </a:lnSpc>
            </a:pPr>
            <a:r>
              <a:rPr lang="en-US" sz="2000" dirty="0">
                <a:solidFill>
                  <a:srgbClr val="000000"/>
                </a:solidFill>
              </a:rPr>
              <a:t>-“Effective programmers should not waste their time debugging – they should not introduce bugs to start with.”  </a:t>
            </a:r>
            <a:r>
              <a:rPr lang="en-US" sz="2000" dirty="0" err="1">
                <a:solidFill>
                  <a:srgbClr val="000000"/>
                </a:solidFill>
              </a:rPr>
              <a:t>Edsgar</a:t>
            </a:r>
            <a:r>
              <a:rPr lang="en-US" sz="2000" dirty="0">
                <a:solidFill>
                  <a:srgbClr val="000000"/>
                </a:solidFill>
              </a:rPr>
              <a:t> Dijkstra</a:t>
            </a:r>
          </a:p>
          <a:p>
            <a:pPr algn="just">
              <a:lnSpc>
                <a:spcPct val="150000"/>
              </a:lnSpc>
            </a:pPr>
            <a:r>
              <a:rPr lang="en-US" sz="2000" dirty="0">
                <a:solidFill>
                  <a:srgbClr val="000000"/>
                </a:solidFill>
              </a:rPr>
              <a:t>A component-level design can be represented using some intermediate representation (e.g. graphical, tabular, or text-based) that can be translated into source code</a:t>
            </a:r>
          </a:p>
          <a:p>
            <a:pPr algn="just">
              <a:lnSpc>
                <a:spcPct val="150000"/>
              </a:lnSpc>
            </a:pPr>
            <a:r>
              <a:rPr lang="en-US" sz="2000" dirty="0">
                <a:solidFill>
                  <a:srgbClr val="000000"/>
                </a:solidFill>
              </a:rPr>
              <a:t>Component-level design defines the data structures, algorithms, interface characteristics, and communication mechanisms allocated to each component.</a:t>
            </a:r>
          </a:p>
        </p:txBody>
      </p:sp>
    </p:spTree>
    <p:extLst>
      <p:ext uri="{BB962C8B-B14F-4D97-AF65-F5344CB8AC3E}">
        <p14:creationId xmlns:p14="http://schemas.microsoft.com/office/powerpoint/2010/main" val="3616230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97065" y="2743201"/>
            <a:ext cx="5904181" cy="1200329"/>
          </a:xfrm>
          <a:prstGeom prst="rect">
            <a:avLst/>
          </a:prstGeom>
        </p:spPr>
        <p:txBody>
          <a:bodyPr wrap="none">
            <a:spAutoFit/>
          </a:bodyPr>
          <a:lstStyle/>
          <a:p>
            <a:pPr algn="ctr"/>
            <a:r>
              <a:rPr lang="en-US" sz="3600" b="1" dirty="0">
                <a:solidFill>
                  <a:schemeClr val="tx2"/>
                </a:solidFill>
              </a:rPr>
              <a:t>Designing </a:t>
            </a:r>
          </a:p>
          <a:p>
            <a:pPr algn="ctr"/>
            <a:r>
              <a:rPr lang="en-US" sz="3600" b="1" dirty="0">
                <a:solidFill>
                  <a:schemeClr val="tx2"/>
                </a:solidFill>
              </a:rPr>
              <a:t>Class-Based Components</a:t>
            </a:r>
          </a:p>
        </p:txBody>
      </p:sp>
    </p:spTree>
    <p:extLst>
      <p:ext uri="{BB962C8B-B14F-4D97-AF65-F5344CB8AC3E}">
        <p14:creationId xmlns:p14="http://schemas.microsoft.com/office/powerpoint/2010/main" val="3353515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Object-oriented View</a:t>
            </a:r>
          </a:p>
        </p:txBody>
      </p:sp>
      <p:sp>
        <p:nvSpPr>
          <p:cNvPr id="3" name="Content Placeholder 2"/>
          <p:cNvSpPr>
            <a:spLocks noGrp="1"/>
          </p:cNvSpPr>
          <p:nvPr>
            <p:ph idx="1"/>
          </p:nvPr>
        </p:nvSpPr>
        <p:spPr>
          <a:xfrm>
            <a:off x="1143000" y="2362200"/>
            <a:ext cx="10668000" cy="4648200"/>
          </a:xfrm>
        </p:spPr>
        <p:txBody>
          <a:bodyPr/>
          <a:lstStyle/>
          <a:p>
            <a:pPr marL="609600" indent="-609600">
              <a:lnSpc>
                <a:spcPct val="80000"/>
              </a:lnSpc>
              <a:buClrTx/>
              <a:buSzTx/>
              <a:buFontTx/>
              <a:buChar char="•"/>
            </a:pPr>
            <a:r>
              <a:rPr lang="en-US" sz="2000" dirty="0">
                <a:solidFill>
                  <a:srgbClr val="000000"/>
                </a:solidFill>
              </a:rPr>
              <a:t>A component is viewed as a set of one or more </a:t>
            </a:r>
            <a:r>
              <a:rPr lang="en-US" sz="2000" u="sng" dirty="0">
                <a:solidFill>
                  <a:srgbClr val="000000"/>
                </a:solidFill>
              </a:rPr>
              <a:t>collaborating classes</a:t>
            </a:r>
          </a:p>
          <a:p>
            <a:pPr marL="609600" indent="-609600">
              <a:lnSpc>
                <a:spcPct val="80000"/>
              </a:lnSpc>
              <a:buClrTx/>
              <a:buSzTx/>
              <a:buFontTx/>
              <a:buChar char="•"/>
            </a:pPr>
            <a:r>
              <a:rPr lang="en-US" sz="2000" dirty="0">
                <a:solidFill>
                  <a:srgbClr val="000000"/>
                </a:solidFill>
              </a:rPr>
              <a:t>Each problem domain (i.e., analysis) class and infrastructure (i.e., design) class is elaborated to identify all attributes and operations that apply to its implementation</a:t>
            </a:r>
          </a:p>
          <a:p>
            <a:pPr marL="609600" indent="-609600">
              <a:lnSpc>
                <a:spcPct val="80000"/>
              </a:lnSpc>
              <a:buClrTx/>
              <a:buSzTx/>
              <a:buFontTx/>
              <a:buChar char="•"/>
            </a:pPr>
            <a:endParaRPr lang="en-US" sz="2000" dirty="0">
              <a:solidFill>
                <a:srgbClr val="000000"/>
              </a:solidFill>
            </a:endParaRPr>
          </a:p>
          <a:p>
            <a:pPr marL="609600" indent="-609600">
              <a:lnSpc>
                <a:spcPct val="80000"/>
              </a:lnSpc>
              <a:buClrTx/>
              <a:buSzTx/>
              <a:buFontTx/>
              <a:buChar char="•"/>
            </a:pPr>
            <a:r>
              <a:rPr lang="en-US" sz="2000" dirty="0">
                <a:solidFill>
                  <a:srgbClr val="000000"/>
                </a:solidFill>
              </a:rPr>
              <a:t>This elaboration activity is applied to every component defined as part of the architectural design</a:t>
            </a:r>
          </a:p>
          <a:p>
            <a:pPr marL="609600" indent="-609600">
              <a:lnSpc>
                <a:spcPct val="80000"/>
              </a:lnSpc>
              <a:buClrTx/>
              <a:buSzTx/>
              <a:buFontTx/>
              <a:buChar char="•"/>
            </a:pPr>
            <a:r>
              <a:rPr lang="en-US" sz="2000" dirty="0">
                <a:solidFill>
                  <a:srgbClr val="000000"/>
                </a:solidFill>
              </a:rPr>
              <a:t>Once this is completed, the following steps are performed</a:t>
            </a:r>
          </a:p>
          <a:p>
            <a:pPr marL="990600" lvl="1" indent="-533400">
              <a:lnSpc>
                <a:spcPct val="80000"/>
              </a:lnSpc>
              <a:buClrTx/>
              <a:buSzTx/>
              <a:buFontTx/>
              <a:buAutoNum type="arabicParenR"/>
            </a:pPr>
            <a:r>
              <a:rPr lang="en-US" sz="2000" dirty="0">
                <a:solidFill>
                  <a:srgbClr val="000000"/>
                </a:solidFill>
              </a:rPr>
              <a:t>Provide further </a:t>
            </a:r>
            <a:r>
              <a:rPr lang="en-US" sz="2000" u="sng" dirty="0">
                <a:solidFill>
                  <a:srgbClr val="000000"/>
                </a:solidFill>
              </a:rPr>
              <a:t>elaboration</a:t>
            </a:r>
            <a:r>
              <a:rPr lang="en-US" sz="2000" dirty="0">
                <a:solidFill>
                  <a:srgbClr val="000000"/>
                </a:solidFill>
              </a:rPr>
              <a:t> of each attribute, operation, and interface</a:t>
            </a:r>
          </a:p>
          <a:p>
            <a:pPr marL="990600" lvl="1" indent="-533400">
              <a:lnSpc>
                <a:spcPct val="80000"/>
              </a:lnSpc>
              <a:buClrTx/>
              <a:buSzTx/>
              <a:buFontTx/>
              <a:buAutoNum type="arabicParenR"/>
            </a:pPr>
            <a:r>
              <a:rPr lang="en-US" sz="2000" dirty="0">
                <a:solidFill>
                  <a:srgbClr val="000000"/>
                </a:solidFill>
              </a:rPr>
              <a:t>Specify the </a:t>
            </a:r>
            <a:r>
              <a:rPr lang="en-US" sz="2000" u="sng" dirty="0">
                <a:solidFill>
                  <a:srgbClr val="000000"/>
                </a:solidFill>
              </a:rPr>
              <a:t>data structure</a:t>
            </a:r>
            <a:r>
              <a:rPr lang="en-US" sz="2000" dirty="0">
                <a:solidFill>
                  <a:srgbClr val="000000"/>
                </a:solidFill>
              </a:rPr>
              <a:t> appropriate for each attribute</a:t>
            </a:r>
          </a:p>
          <a:p>
            <a:pPr marL="990600" lvl="1" indent="-533400">
              <a:lnSpc>
                <a:spcPct val="80000"/>
              </a:lnSpc>
              <a:buClrTx/>
              <a:buSzTx/>
              <a:buFontTx/>
              <a:buAutoNum type="arabicParenR"/>
            </a:pPr>
            <a:r>
              <a:rPr lang="en-US" sz="2000" dirty="0">
                <a:solidFill>
                  <a:srgbClr val="000000"/>
                </a:solidFill>
              </a:rPr>
              <a:t>Design the </a:t>
            </a:r>
            <a:r>
              <a:rPr lang="en-US" sz="2000" u="sng" dirty="0">
                <a:solidFill>
                  <a:srgbClr val="000000"/>
                </a:solidFill>
              </a:rPr>
              <a:t>algorithmic detail</a:t>
            </a:r>
            <a:r>
              <a:rPr lang="en-US" sz="2000" dirty="0">
                <a:solidFill>
                  <a:srgbClr val="000000"/>
                </a:solidFill>
              </a:rPr>
              <a:t> required to implement the processing logic associated with each operation</a:t>
            </a:r>
          </a:p>
          <a:p>
            <a:pPr marL="990600" lvl="1" indent="-533400">
              <a:lnSpc>
                <a:spcPct val="80000"/>
              </a:lnSpc>
              <a:buClrTx/>
              <a:buSzTx/>
              <a:buFontTx/>
              <a:buAutoNum type="arabicParenR"/>
            </a:pPr>
            <a:r>
              <a:rPr lang="en-US" sz="2000" dirty="0">
                <a:solidFill>
                  <a:srgbClr val="000000"/>
                </a:solidFill>
              </a:rPr>
              <a:t>Design the mechanisms required to implement the </a:t>
            </a:r>
            <a:r>
              <a:rPr lang="en-US" sz="2000" u="sng" dirty="0">
                <a:solidFill>
                  <a:srgbClr val="000000"/>
                </a:solidFill>
              </a:rPr>
              <a:t>interface</a:t>
            </a:r>
            <a:r>
              <a:rPr lang="en-US" sz="2000" dirty="0">
                <a:solidFill>
                  <a:srgbClr val="000000"/>
                </a:solidFill>
              </a:rPr>
              <a:t> to include the messaging that occurs between objects</a:t>
            </a:r>
          </a:p>
          <a:p>
            <a:endParaRPr lang="en-US" dirty="0"/>
          </a:p>
        </p:txBody>
      </p:sp>
    </p:spTree>
    <p:extLst>
      <p:ext uri="{BB962C8B-B14F-4D97-AF65-F5344CB8AC3E}">
        <p14:creationId xmlns:p14="http://schemas.microsoft.com/office/powerpoint/2010/main" val="3184925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Class Elaboration</a:t>
            </a:r>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286000" y="2362200"/>
            <a:ext cx="82296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3304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Component-level Design Principles </a:t>
            </a:r>
          </a:p>
        </p:txBody>
      </p:sp>
      <p:sp>
        <p:nvSpPr>
          <p:cNvPr id="3" name="Content Placeholder 2"/>
          <p:cNvSpPr>
            <a:spLocks noGrp="1"/>
          </p:cNvSpPr>
          <p:nvPr>
            <p:ph idx="1"/>
          </p:nvPr>
        </p:nvSpPr>
        <p:spPr>
          <a:xfrm>
            <a:off x="1371600" y="2362200"/>
            <a:ext cx="10566400" cy="4191000"/>
          </a:xfrm>
        </p:spPr>
        <p:txBody>
          <a:bodyPr/>
          <a:lstStyle/>
          <a:p>
            <a:pPr lvl="0">
              <a:lnSpc>
                <a:spcPct val="80000"/>
              </a:lnSpc>
              <a:buClrTx/>
              <a:buSzTx/>
              <a:buFontTx/>
              <a:buChar char="•"/>
            </a:pPr>
            <a:r>
              <a:rPr lang="en-US" sz="2200" b="1" dirty="0">
                <a:solidFill>
                  <a:srgbClr val="000000"/>
                </a:solidFill>
              </a:rPr>
              <a:t>Open-closed principle</a:t>
            </a:r>
          </a:p>
          <a:p>
            <a:pPr lvl="1" algn="just">
              <a:lnSpc>
                <a:spcPct val="80000"/>
              </a:lnSpc>
              <a:buClrTx/>
              <a:buSzTx/>
            </a:pPr>
            <a:r>
              <a:rPr lang="en-US" sz="2200" dirty="0">
                <a:solidFill>
                  <a:srgbClr val="000000"/>
                </a:solidFill>
              </a:rPr>
              <a:t>A module or component should be </a:t>
            </a:r>
            <a:r>
              <a:rPr lang="en-US" sz="2200" u="sng" dirty="0">
                <a:solidFill>
                  <a:srgbClr val="000000"/>
                </a:solidFill>
              </a:rPr>
              <a:t>open</a:t>
            </a:r>
            <a:r>
              <a:rPr lang="en-US" sz="2200" dirty="0">
                <a:solidFill>
                  <a:srgbClr val="000000"/>
                </a:solidFill>
              </a:rPr>
              <a:t> for extension but </a:t>
            </a:r>
            <a:r>
              <a:rPr lang="en-US" sz="2200" u="sng" dirty="0">
                <a:solidFill>
                  <a:srgbClr val="000000"/>
                </a:solidFill>
              </a:rPr>
              <a:t>closed</a:t>
            </a:r>
            <a:r>
              <a:rPr lang="en-US" sz="2200" dirty="0">
                <a:solidFill>
                  <a:srgbClr val="000000"/>
                </a:solidFill>
              </a:rPr>
              <a:t> for modification.</a:t>
            </a:r>
          </a:p>
          <a:p>
            <a:pPr lvl="1" algn="just">
              <a:lnSpc>
                <a:spcPct val="80000"/>
              </a:lnSpc>
              <a:buClrTx/>
              <a:buSzTx/>
            </a:pPr>
            <a:r>
              <a:rPr lang="en-US" sz="2200" dirty="0">
                <a:solidFill>
                  <a:srgbClr val="000000"/>
                </a:solidFill>
              </a:rPr>
              <a:t>The designer should specify the component in a way that allows it to be </a:t>
            </a:r>
            <a:r>
              <a:rPr lang="en-US" sz="2200" u="sng" dirty="0">
                <a:solidFill>
                  <a:srgbClr val="000000"/>
                </a:solidFill>
              </a:rPr>
              <a:t>extended</a:t>
            </a:r>
            <a:r>
              <a:rPr lang="en-US" sz="2200" dirty="0">
                <a:solidFill>
                  <a:srgbClr val="000000"/>
                </a:solidFill>
              </a:rPr>
              <a:t> without the need to make internal code or design </a:t>
            </a:r>
            <a:r>
              <a:rPr lang="en-US" sz="2200" u="sng" dirty="0">
                <a:solidFill>
                  <a:srgbClr val="000000"/>
                </a:solidFill>
              </a:rPr>
              <a:t>modifications</a:t>
            </a:r>
            <a:r>
              <a:rPr lang="en-US" sz="2200" dirty="0">
                <a:solidFill>
                  <a:srgbClr val="000000"/>
                </a:solidFill>
              </a:rPr>
              <a:t> to the existing parts of the component.</a:t>
            </a:r>
          </a:p>
          <a:p>
            <a:pPr marL="457200" lvl="1" indent="0">
              <a:lnSpc>
                <a:spcPct val="80000"/>
              </a:lnSpc>
              <a:buClrTx/>
              <a:buSzTx/>
              <a:buNone/>
            </a:pPr>
            <a:endParaRPr lang="en-US" sz="2200" dirty="0">
              <a:solidFill>
                <a:srgbClr val="000000"/>
              </a:solidFill>
            </a:endParaRPr>
          </a:p>
          <a:p>
            <a:pPr lvl="0">
              <a:lnSpc>
                <a:spcPct val="80000"/>
              </a:lnSpc>
              <a:buClrTx/>
              <a:buSzTx/>
              <a:buFontTx/>
              <a:buChar char="•"/>
            </a:pPr>
            <a:r>
              <a:rPr lang="en-US" sz="2200" b="1" dirty="0" err="1">
                <a:solidFill>
                  <a:srgbClr val="000000"/>
                </a:solidFill>
              </a:rPr>
              <a:t>Liskov</a:t>
            </a:r>
            <a:r>
              <a:rPr lang="en-US" sz="2200" b="1" dirty="0">
                <a:solidFill>
                  <a:srgbClr val="000000"/>
                </a:solidFill>
              </a:rPr>
              <a:t> substitution principle</a:t>
            </a:r>
          </a:p>
          <a:p>
            <a:pPr lvl="1" algn="just">
              <a:lnSpc>
                <a:spcPct val="80000"/>
              </a:lnSpc>
              <a:buClrTx/>
              <a:buSzTx/>
            </a:pPr>
            <a:r>
              <a:rPr lang="en-US" sz="2200" dirty="0">
                <a:solidFill>
                  <a:srgbClr val="000000"/>
                </a:solidFill>
              </a:rPr>
              <a:t>Subclasses should be </a:t>
            </a:r>
            <a:r>
              <a:rPr lang="en-US" sz="2200" u="sng" dirty="0">
                <a:solidFill>
                  <a:srgbClr val="000000"/>
                </a:solidFill>
              </a:rPr>
              <a:t>substitutable</a:t>
            </a:r>
            <a:r>
              <a:rPr lang="en-US" sz="2200" dirty="0">
                <a:solidFill>
                  <a:srgbClr val="000000"/>
                </a:solidFill>
              </a:rPr>
              <a:t> for their base classes</a:t>
            </a:r>
          </a:p>
          <a:p>
            <a:pPr lvl="1" algn="just">
              <a:lnSpc>
                <a:spcPct val="80000"/>
              </a:lnSpc>
              <a:buClrTx/>
              <a:buSzTx/>
            </a:pPr>
            <a:r>
              <a:rPr lang="en-US" sz="2200" dirty="0">
                <a:solidFill>
                  <a:srgbClr val="000000"/>
                </a:solidFill>
              </a:rPr>
              <a:t>A component that uses a base class should continue to </a:t>
            </a:r>
            <a:r>
              <a:rPr lang="en-US" sz="2200" u="sng" dirty="0">
                <a:solidFill>
                  <a:srgbClr val="000000"/>
                </a:solidFill>
              </a:rPr>
              <a:t>function properly</a:t>
            </a:r>
            <a:r>
              <a:rPr lang="en-US" sz="2200" dirty="0">
                <a:solidFill>
                  <a:srgbClr val="000000"/>
                </a:solidFill>
              </a:rPr>
              <a:t> if a subclass of the base class is passed to the component instead.</a:t>
            </a:r>
          </a:p>
          <a:p>
            <a:endParaRPr lang="en-US" dirty="0"/>
          </a:p>
        </p:txBody>
      </p:sp>
    </p:spTree>
    <p:extLst>
      <p:ext uri="{BB962C8B-B14F-4D97-AF65-F5344CB8AC3E}">
        <p14:creationId xmlns:p14="http://schemas.microsoft.com/office/powerpoint/2010/main" val="361621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Component-level Design Principles </a:t>
            </a:r>
          </a:p>
        </p:txBody>
      </p:sp>
      <p:sp>
        <p:nvSpPr>
          <p:cNvPr id="3" name="Content Placeholder 2"/>
          <p:cNvSpPr>
            <a:spLocks noGrp="1"/>
          </p:cNvSpPr>
          <p:nvPr>
            <p:ph idx="1"/>
          </p:nvPr>
        </p:nvSpPr>
        <p:spPr>
          <a:xfrm>
            <a:off x="1143000" y="2362200"/>
            <a:ext cx="10566400" cy="4267200"/>
          </a:xfrm>
        </p:spPr>
        <p:txBody>
          <a:bodyPr/>
          <a:lstStyle/>
          <a:p>
            <a:pPr lvl="0">
              <a:lnSpc>
                <a:spcPct val="80000"/>
              </a:lnSpc>
              <a:buClrTx/>
              <a:buSzTx/>
              <a:buFontTx/>
              <a:buChar char="•"/>
            </a:pPr>
            <a:r>
              <a:rPr lang="en-US" sz="2200" b="1" dirty="0">
                <a:solidFill>
                  <a:srgbClr val="000000"/>
                </a:solidFill>
              </a:rPr>
              <a:t>Dependency inversion principle</a:t>
            </a:r>
          </a:p>
          <a:p>
            <a:pPr lvl="1">
              <a:lnSpc>
                <a:spcPct val="80000"/>
              </a:lnSpc>
              <a:buClrTx/>
              <a:buSzTx/>
            </a:pPr>
            <a:r>
              <a:rPr lang="en-US" sz="2200" dirty="0">
                <a:solidFill>
                  <a:srgbClr val="000000"/>
                </a:solidFill>
              </a:rPr>
              <a:t>Depend on </a:t>
            </a:r>
            <a:r>
              <a:rPr lang="en-US" sz="2200" u="sng" dirty="0">
                <a:solidFill>
                  <a:srgbClr val="000000"/>
                </a:solidFill>
              </a:rPr>
              <a:t>abstractions</a:t>
            </a:r>
            <a:r>
              <a:rPr lang="en-US" sz="2200" dirty="0">
                <a:solidFill>
                  <a:srgbClr val="000000"/>
                </a:solidFill>
              </a:rPr>
              <a:t> (i.e., interfaces); do not depend on </a:t>
            </a:r>
            <a:r>
              <a:rPr lang="en-US" sz="2200" u="sng" dirty="0">
                <a:solidFill>
                  <a:srgbClr val="000000"/>
                </a:solidFill>
              </a:rPr>
              <a:t>concretions.</a:t>
            </a:r>
          </a:p>
          <a:p>
            <a:pPr lvl="1">
              <a:lnSpc>
                <a:spcPct val="80000"/>
              </a:lnSpc>
              <a:buClrTx/>
              <a:buSzTx/>
            </a:pPr>
            <a:r>
              <a:rPr lang="en-US" sz="2200" dirty="0">
                <a:solidFill>
                  <a:srgbClr val="000000"/>
                </a:solidFill>
              </a:rPr>
              <a:t>The more a component depends on other concrete components (rather than on the interfaces) the more difficult it will be to extend.</a:t>
            </a:r>
          </a:p>
          <a:p>
            <a:pPr marL="457200" lvl="1" indent="0">
              <a:lnSpc>
                <a:spcPct val="80000"/>
              </a:lnSpc>
              <a:buClrTx/>
              <a:buSzTx/>
              <a:buNone/>
            </a:pPr>
            <a:endParaRPr lang="en-US" sz="2200" dirty="0">
              <a:solidFill>
                <a:srgbClr val="000000"/>
              </a:solidFill>
            </a:endParaRPr>
          </a:p>
          <a:p>
            <a:pPr lvl="0">
              <a:lnSpc>
                <a:spcPct val="80000"/>
              </a:lnSpc>
              <a:buClrTx/>
              <a:buSzTx/>
              <a:buFontTx/>
              <a:buChar char="•"/>
            </a:pPr>
            <a:r>
              <a:rPr lang="en-US" sz="2200" b="1" dirty="0">
                <a:solidFill>
                  <a:srgbClr val="000000"/>
                </a:solidFill>
              </a:rPr>
              <a:t>Interface segregation principle</a:t>
            </a:r>
          </a:p>
          <a:p>
            <a:pPr lvl="1">
              <a:lnSpc>
                <a:spcPct val="80000"/>
              </a:lnSpc>
              <a:buClrTx/>
              <a:buSzTx/>
            </a:pPr>
            <a:r>
              <a:rPr lang="en-US" sz="2200" u="sng" dirty="0">
                <a:solidFill>
                  <a:srgbClr val="000000"/>
                </a:solidFill>
              </a:rPr>
              <a:t>Many</a:t>
            </a:r>
            <a:r>
              <a:rPr lang="en-US" sz="2200" dirty="0">
                <a:solidFill>
                  <a:srgbClr val="000000"/>
                </a:solidFill>
              </a:rPr>
              <a:t> client-specific </a:t>
            </a:r>
            <a:r>
              <a:rPr lang="en-US" sz="2200" u="sng" dirty="0">
                <a:solidFill>
                  <a:srgbClr val="000000"/>
                </a:solidFill>
              </a:rPr>
              <a:t>interfaces</a:t>
            </a:r>
            <a:r>
              <a:rPr lang="en-US" sz="2200" dirty="0">
                <a:solidFill>
                  <a:srgbClr val="000000"/>
                </a:solidFill>
              </a:rPr>
              <a:t> are better than one general purpose interface.</a:t>
            </a:r>
          </a:p>
          <a:p>
            <a:pPr lvl="1">
              <a:lnSpc>
                <a:spcPct val="80000"/>
              </a:lnSpc>
              <a:buClrTx/>
              <a:buSzTx/>
            </a:pPr>
            <a:r>
              <a:rPr lang="en-US" sz="2200" dirty="0">
                <a:solidFill>
                  <a:srgbClr val="000000"/>
                </a:solidFill>
              </a:rPr>
              <a:t>For a server class, </a:t>
            </a:r>
            <a:r>
              <a:rPr lang="en-US" sz="2200" u="sng" dirty="0">
                <a:solidFill>
                  <a:srgbClr val="000000"/>
                </a:solidFill>
              </a:rPr>
              <a:t>specialized interfaces</a:t>
            </a:r>
            <a:r>
              <a:rPr lang="en-US" sz="2200" dirty="0">
                <a:solidFill>
                  <a:srgbClr val="000000"/>
                </a:solidFill>
              </a:rPr>
              <a:t> should be created to serve major categories of clients.</a:t>
            </a:r>
          </a:p>
          <a:p>
            <a:pPr lvl="1">
              <a:lnSpc>
                <a:spcPct val="80000"/>
              </a:lnSpc>
              <a:buClrTx/>
              <a:buSzTx/>
            </a:pPr>
            <a:r>
              <a:rPr lang="en-US" sz="2200" dirty="0">
                <a:solidFill>
                  <a:srgbClr val="000000"/>
                </a:solidFill>
              </a:rPr>
              <a:t>Only those operations that are </a:t>
            </a:r>
            <a:r>
              <a:rPr lang="en-US" sz="2200" u="sng" dirty="0">
                <a:solidFill>
                  <a:srgbClr val="000000"/>
                </a:solidFill>
              </a:rPr>
              <a:t>relevant</a:t>
            </a:r>
            <a:r>
              <a:rPr lang="en-US" sz="2200" dirty="0">
                <a:solidFill>
                  <a:srgbClr val="000000"/>
                </a:solidFill>
              </a:rPr>
              <a:t> to a particular category of clients should be </a:t>
            </a:r>
            <a:r>
              <a:rPr lang="en-US" sz="2200" u="sng" dirty="0">
                <a:solidFill>
                  <a:srgbClr val="000000"/>
                </a:solidFill>
              </a:rPr>
              <a:t>specified</a:t>
            </a:r>
            <a:r>
              <a:rPr lang="en-US" sz="2200" dirty="0">
                <a:solidFill>
                  <a:srgbClr val="000000"/>
                </a:solidFill>
              </a:rPr>
              <a:t> in the interface .</a:t>
            </a:r>
          </a:p>
          <a:p>
            <a:endParaRPr lang="en-US" dirty="0"/>
          </a:p>
        </p:txBody>
      </p:sp>
    </p:spTree>
    <p:extLst>
      <p:ext uri="{BB962C8B-B14F-4D97-AF65-F5344CB8AC3E}">
        <p14:creationId xmlns:p14="http://schemas.microsoft.com/office/powerpoint/2010/main" val="1223041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Component-Level Design Steps</a:t>
            </a:r>
          </a:p>
        </p:txBody>
      </p:sp>
      <p:sp>
        <p:nvSpPr>
          <p:cNvPr id="3" name="Content Placeholder 2"/>
          <p:cNvSpPr>
            <a:spLocks noGrp="1"/>
          </p:cNvSpPr>
          <p:nvPr>
            <p:ph idx="1"/>
          </p:nvPr>
        </p:nvSpPr>
        <p:spPr/>
        <p:txBody>
          <a:bodyPr/>
          <a:lstStyle/>
          <a:p>
            <a:r>
              <a:rPr lang="en-US" dirty="0">
                <a:solidFill>
                  <a:srgbClr val="000000"/>
                </a:solidFill>
              </a:rPr>
              <a:t>Identify design classes in problem domain</a:t>
            </a:r>
          </a:p>
          <a:p>
            <a:r>
              <a:rPr lang="en-US" dirty="0">
                <a:solidFill>
                  <a:srgbClr val="000000"/>
                </a:solidFill>
              </a:rPr>
              <a:t>Identify infrastructure design classes</a:t>
            </a:r>
          </a:p>
          <a:p>
            <a:r>
              <a:rPr lang="en-US" dirty="0">
                <a:solidFill>
                  <a:srgbClr val="000000"/>
                </a:solidFill>
              </a:rPr>
              <a:t>Elaborate design classes</a:t>
            </a:r>
          </a:p>
          <a:p>
            <a:r>
              <a:rPr lang="en-US" dirty="0">
                <a:solidFill>
                  <a:srgbClr val="000000"/>
                </a:solidFill>
              </a:rPr>
              <a:t>Describe persistent data sources</a:t>
            </a:r>
          </a:p>
          <a:p>
            <a:r>
              <a:rPr lang="en-US" dirty="0">
                <a:solidFill>
                  <a:srgbClr val="000000"/>
                </a:solidFill>
              </a:rPr>
              <a:t>Elaborate behavioral representations</a:t>
            </a:r>
          </a:p>
          <a:p>
            <a:r>
              <a:rPr lang="en-US" dirty="0">
                <a:solidFill>
                  <a:srgbClr val="000000"/>
                </a:solidFill>
              </a:rPr>
              <a:t>Elaborate deployment diagrams</a:t>
            </a:r>
          </a:p>
          <a:p>
            <a:r>
              <a:rPr lang="en-US" dirty="0">
                <a:solidFill>
                  <a:srgbClr val="000000"/>
                </a:solidFill>
              </a:rPr>
              <a:t>Refactor design and consider alternatives</a:t>
            </a:r>
          </a:p>
          <a:p>
            <a:endParaRPr lang="en-US" dirty="0"/>
          </a:p>
        </p:txBody>
      </p:sp>
    </p:spTree>
    <p:extLst>
      <p:ext uri="{BB962C8B-B14F-4D97-AF65-F5344CB8AC3E}">
        <p14:creationId xmlns:p14="http://schemas.microsoft.com/office/powerpoint/2010/main" val="1732537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Steps 1 &amp; 2 – Identify Classes</a:t>
            </a:r>
          </a:p>
        </p:txBody>
      </p:sp>
      <p:sp>
        <p:nvSpPr>
          <p:cNvPr id="3" name="Content Placeholder 2"/>
          <p:cNvSpPr>
            <a:spLocks noGrp="1"/>
          </p:cNvSpPr>
          <p:nvPr>
            <p:ph idx="1"/>
          </p:nvPr>
        </p:nvSpPr>
        <p:spPr/>
        <p:txBody>
          <a:bodyPr/>
          <a:lstStyle/>
          <a:p>
            <a:r>
              <a:rPr lang="en-US" dirty="0">
                <a:solidFill>
                  <a:srgbClr val="000000"/>
                </a:solidFill>
              </a:rPr>
              <a:t>Most classes from the problem domain are analysis classes created as part of the analysis model.</a:t>
            </a:r>
          </a:p>
          <a:p>
            <a:endParaRPr lang="en-US" dirty="0"/>
          </a:p>
        </p:txBody>
      </p:sp>
    </p:spTree>
    <p:extLst>
      <p:ext uri="{BB962C8B-B14F-4D97-AF65-F5344CB8AC3E}">
        <p14:creationId xmlns:p14="http://schemas.microsoft.com/office/powerpoint/2010/main" val="2145489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Step 3 – Class Elaboration</a:t>
            </a:r>
          </a:p>
        </p:txBody>
      </p:sp>
      <p:sp>
        <p:nvSpPr>
          <p:cNvPr id="3" name="Content Placeholder 2"/>
          <p:cNvSpPr>
            <a:spLocks noGrp="1"/>
          </p:cNvSpPr>
          <p:nvPr>
            <p:ph idx="1"/>
          </p:nvPr>
        </p:nvSpPr>
        <p:spPr/>
        <p:txBody>
          <a:bodyPr/>
          <a:lstStyle/>
          <a:p>
            <a:r>
              <a:rPr lang="en-US" dirty="0">
                <a:solidFill>
                  <a:srgbClr val="000000"/>
                </a:solidFill>
              </a:rPr>
              <a:t>Specify message details when classes or components collaborate.</a:t>
            </a:r>
          </a:p>
          <a:p>
            <a:r>
              <a:rPr lang="en-US" dirty="0">
                <a:solidFill>
                  <a:srgbClr val="000000"/>
                </a:solidFill>
              </a:rPr>
              <a:t>Identify appropriate interfaces for each component.</a:t>
            </a:r>
          </a:p>
          <a:p>
            <a:r>
              <a:rPr lang="en-US" dirty="0">
                <a:solidFill>
                  <a:srgbClr val="000000"/>
                </a:solidFill>
              </a:rPr>
              <a:t>Elaborate attributes and define data structures required to implement them.</a:t>
            </a:r>
          </a:p>
          <a:p>
            <a:r>
              <a:rPr lang="en-US" dirty="0">
                <a:solidFill>
                  <a:srgbClr val="000000"/>
                </a:solidFill>
              </a:rPr>
              <a:t>Describe processing flow within each operation in detail.</a:t>
            </a:r>
          </a:p>
          <a:p>
            <a:endParaRPr lang="en-US" dirty="0"/>
          </a:p>
        </p:txBody>
      </p:sp>
    </p:spTree>
    <p:extLst>
      <p:ext uri="{BB962C8B-B14F-4D97-AF65-F5344CB8AC3E}">
        <p14:creationId xmlns:p14="http://schemas.microsoft.com/office/powerpoint/2010/main" val="2724290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3a. Collaboration Details</a:t>
            </a:r>
          </a:p>
        </p:txBody>
      </p:sp>
      <p:sp>
        <p:nvSpPr>
          <p:cNvPr id="3" name="Content Placeholder 2"/>
          <p:cNvSpPr>
            <a:spLocks noGrp="1"/>
          </p:cNvSpPr>
          <p:nvPr>
            <p:ph idx="1"/>
          </p:nvPr>
        </p:nvSpPr>
        <p:spPr/>
        <p:txBody>
          <a:bodyPr/>
          <a:lstStyle/>
          <a:p>
            <a:r>
              <a:rPr lang="en-US" sz="2000" dirty="0">
                <a:solidFill>
                  <a:srgbClr val="000000"/>
                </a:solidFill>
              </a:rPr>
              <a:t>Messages can be elaborated by expanding their syntax in the following manner:</a:t>
            </a:r>
          </a:p>
          <a:p>
            <a:endParaRPr lang="en-US" dirty="0"/>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3733801"/>
            <a:ext cx="8077200" cy="298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5218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3a. Collaboration Details</a:t>
            </a:r>
          </a:p>
        </p:txBody>
      </p:sp>
      <p:sp>
        <p:nvSpPr>
          <p:cNvPr id="3" name="Content Placeholder 2"/>
          <p:cNvSpPr>
            <a:spLocks noGrp="1"/>
          </p:cNvSpPr>
          <p:nvPr>
            <p:ph idx="1"/>
          </p:nvPr>
        </p:nvSpPr>
        <p:spPr/>
        <p:txBody>
          <a:bodyPr/>
          <a:lstStyle/>
          <a:p>
            <a:r>
              <a:rPr lang="en-US" sz="2000" dirty="0">
                <a:solidFill>
                  <a:srgbClr val="000000"/>
                </a:solidFill>
              </a:rPr>
              <a:t>where a </a:t>
            </a:r>
            <a:r>
              <a:rPr lang="en-US" sz="2000" b="1" dirty="0">
                <a:solidFill>
                  <a:srgbClr val="000000"/>
                </a:solidFill>
              </a:rPr>
              <a:t>[guard condition</a:t>
            </a:r>
            <a:r>
              <a:rPr lang="en-US" sz="2000" dirty="0">
                <a:solidFill>
                  <a:srgbClr val="000000"/>
                </a:solidFill>
              </a:rPr>
              <a:t>] specifies any set of conditions that must be met before the message can be sent;</a:t>
            </a:r>
          </a:p>
          <a:p>
            <a:r>
              <a:rPr lang="en-US" sz="2000" b="1" dirty="0">
                <a:solidFill>
                  <a:srgbClr val="000000"/>
                </a:solidFill>
              </a:rPr>
              <a:t> sequence </a:t>
            </a:r>
            <a:r>
              <a:rPr lang="en-US" sz="2000" dirty="0">
                <a:solidFill>
                  <a:srgbClr val="000000"/>
                </a:solidFill>
              </a:rPr>
              <a:t>expression is an integer value (or other ordering indicator, e.g., 3.1.2) that indicates the sequential order in which a message is sent; </a:t>
            </a:r>
          </a:p>
          <a:p>
            <a:r>
              <a:rPr lang="en-US" sz="2000" b="1" dirty="0">
                <a:solidFill>
                  <a:srgbClr val="000000"/>
                </a:solidFill>
              </a:rPr>
              <a:t>(return value) </a:t>
            </a:r>
            <a:r>
              <a:rPr lang="en-US" sz="2000" dirty="0">
                <a:solidFill>
                  <a:srgbClr val="000000"/>
                </a:solidFill>
              </a:rPr>
              <a:t>is the name of the information that is returned by the operation invoked by the message; </a:t>
            </a:r>
          </a:p>
          <a:p>
            <a:r>
              <a:rPr lang="en-US" sz="2000" b="1" dirty="0">
                <a:solidFill>
                  <a:srgbClr val="000000"/>
                </a:solidFill>
              </a:rPr>
              <a:t>message name </a:t>
            </a:r>
            <a:r>
              <a:rPr lang="en-US" sz="2000" dirty="0">
                <a:solidFill>
                  <a:srgbClr val="000000"/>
                </a:solidFill>
              </a:rPr>
              <a:t>identifies the operation that is to be invoked, and </a:t>
            </a:r>
            <a:r>
              <a:rPr lang="en-US" sz="2000" b="1" dirty="0">
                <a:solidFill>
                  <a:srgbClr val="000000"/>
                </a:solidFill>
              </a:rPr>
              <a:t>(argument list) </a:t>
            </a:r>
            <a:r>
              <a:rPr lang="en-US" sz="2000" dirty="0">
                <a:solidFill>
                  <a:srgbClr val="000000"/>
                </a:solidFill>
              </a:rPr>
              <a:t>is the list of attributes that are passed to the operation.</a:t>
            </a:r>
          </a:p>
        </p:txBody>
      </p:sp>
    </p:spTree>
    <p:extLst>
      <p:ext uri="{BB962C8B-B14F-4D97-AF65-F5344CB8AC3E}">
        <p14:creationId xmlns:p14="http://schemas.microsoft.com/office/powerpoint/2010/main" val="3358980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3b. Appropriate Interfaces</a:t>
            </a:r>
          </a:p>
        </p:txBody>
      </p:sp>
      <p:sp>
        <p:nvSpPr>
          <p:cNvPr id="3" name="Content Placeholder 2"/>
          <p:cNvSpPr>
            <a:spLocks noGrp="1"/>
          </p:cNvSpPr>
          <p:nvPr>
            <p:ph idx="1"/>
          </p:nvPr>
        </p:nvSpPr>
        <p:spPr>
          <a:xfrm>
            <a:off x="2362200" y="2362200"/>
            <a:ext cx="8077200" cy="4343400"/>
          </a:xfrm>
        </p:spPr>
        <p:txBody>
          <a:bodyPr/>
          <a:lstStyle/>
          <a:p>
            <a:endParaRPr lang="en-US" sz="2000" dirty="0"/>
          </a:p>
          <a:p>
            <a:endParaRPr lang="en-US" sz="2000" dirty="0"/>
          </a:p>
          <a:p>
            <a:endParaRPr lang="en-US" dirty="0"/>
          </a:p>
        </p:txBody>
      </p:sp>
      <p:pic>
        <p:nvPicPr>
          <p:cNvPr id="717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2438400"/>
            <a:ext cx="89154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3983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3c. Elaborate Attributes</a:t>
            </a:r>
          </a:p>
        </p:txBody>
      </p:sp>
      <p:sp>
        <p:nvSpPr>
          <p:cNvPr id="3" name="Content Placeholder 2"/>
          <p:cNvSpPr>
            <a:spLocks noGrp="1"/>
          </p:cNvSpPr>
          <p:nvPr>
            <p:ph idx="1"/>
          </p:nvPr>
        </p:nvSpPr>
        <p:spPr>
          <a:xfrm>
            <a:off x="1016000" y="2362200"/>
            <a:ext cx="10718800" cy="4495800"/>
          </a:xfrm>
        </p:spPr>
        <p:txBody>
          <a:bodyPr/>
          <a:lstStyle/>
          <a:p>
            <a:r>
              <a:rPr lang="en-US" sz="2200" dirty="0">
                <a:solidFill>
                  <a:srgbClr val="000000"/>
                </a:solidFill>
              </a:rPr>
              <a:t>In general, data structures and types used to define attributes are defined within the context of the programming language that is to be used for implementation. </a:t>
            </a:r>
          </a:p>
          <a:p>
            <a:endParaRPr lang="en-US" sz="2200" dirty="0">
              <a:solidFill>
                <a:srgbClr val="000000"/>
              </a:solidFill>
            </a:endParaRPr>
          </a:p>
          <a:p>
            <a:pPr marL="0" indent="0">
              <a:buNone/>
            </a:pPr>
            <a:r>
              <a:rPr lang="en-US" sz="2200" dirty="0">
                <a:solidFill>
                  <a:srgbClr val="000000"/>
                </a:solidFill>
              </a:rPr>
              <a:t>	</a:t>
            </a:r>
            <a:r>
              <a:rPr lang="en-US" sz="2200" b="1" dirty="0">
                <a:solidFill>
                  <a:srgbClr val="000000"/>
                </a:solidFill>
              </a:rPr>
              <a:t>name : type-expression = initial-value {property string}</a:t>
            </a:r>
          </a:p>
          <a:p>
            <a:pPr marL="0" indent="0">
              <a:buNone/>
            </a:pPr>
            <a:endParaRPr lang="en-US" sz="2200" b="1" dirty="0">
              <a:solidFill>
                <a:srgbClr val="000000"/>
              </a:solidFill>
            </a:endParaRPr>
          </a:p>
          <a:p>
            <a:r>
              <a:rPr lang="en-US" sz="2200" dirty="0">
                <a:solidFill>
                  <a:srgbClr val="000000"/>
                </a:solidFill>
              </a:rPr>
              <a:t>where </a:t>
            </a:r>
            <a:r>
              <a:rPr lang="en-US" sz="2200" b="1" dirty="0">
                <a:solidFill>
                  <a:srgbClr val="000000"/>
                </a:solidFill>
              </a:rPr>
              <a:t>name</a:t>
            </a:r>
            <a:r>
              <a:rPr lang="en-US" sz="2200" dirty="0">
                <a:solidFill>
                  <a:srgbClr val="000000"/>
                </a:solidFill>
              </a:rPr>
              <a:t> is the attribute name, </a:t>
            </a:r>
            <a:r>
              <a:rPr lang="en-US" sz="2200" b="1" dirty="0">
                <a:solidFill>
                  <a:srgbClr val="000000"/>
                </a:solidFill>
              </a:rPr>
              <a:t>type expression </a:t>
            </a:r>
            <a:r>
              <a:rPr lang="en-US" sz="2200" dirty="0">
                <a:solidFill>
                  <a:srgbClr val="000000"/>
                </a:solidFill>
              </a:rPr>
              <a:t>is the data type, </a:t>
            </a:r>
            <a:r>
              <a:rPr lang="en-US" sz="2200" b="1" dirty="0">
                <a:solidFill>
                  <a:srgbClr val="000000"/>
                </a:solidFill>
              </a:rPr>
              <a:t>initial value </a:t>
            </a:r>
            <a:r>
              <a:rPr lang="en-US" sz="2200" dirty="0">
                <a:solidFill>
                  <a:srgbClr val="000000"/>
                </a:solidFill>
              </a:rPr>
              <a:t>is the value that the attribute takes when an object is created, and </a:t>
            </a:r>
            <a:r>
              <a:rPr lang="en-US" sz="2200" b="1" dirty="0">
                <a:solidFill>
                  <a:srgbClr val="000000"/>
                </a:solidFill>
              </a:rPr>
              <a:t>property-string</a:t>
            </a:r>
            <a:r>
              <a:rPr lang="en-US" sz="2200" dirty="0">
                <a:solidFill>
                  <a:srgbClr val="000000"/>
                </a:solidFill>
              </a:rPr>
              <a:t> defines a property or characteristic of the attribute.</a:t>
            </a:r>
          </a:p>
        </p:txBody>
      </p:sp>
    </p:spTree>
    <p:extLst>
      <p:ext uri="{BB962C8B-B14F-4D97-AF65-F5344CB8AC3E}">
        <p14:creationId xmlns:p14="http://schemas.microsoft.com/office/powerpoint/2010/main" val="143552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3d. Describe </a:t>
            </a:r>
            <a:br>
              <a:rPr lang="en-US" sz="3200" dirty="0"/>
            </a:br>
            <a:r>
              <a:rPr lang="en-US" sz="3200" dirty="0"/>
              <a:t>Processing Flow</a:t>
            </a:r>
          </a:p>
        </p:txBody>
      </p:sp>
      <p:sp>
        <p:nvSpPr>
          <p:cNvPr id="3" name="Content Placeholder 2"/>
          <p:cNvSpPr>
            <a:spLocks noGrp="1"/>
          </p:cNvSpPr>
          <p:nvPr>
            <p:ph idx="1"/>
          </p:nvPr>
        </p:nvSpPr>
        <p:spPr/>
        <p:txBody>
          <a:bodyPr/>
          <a:lstStyle/>
          <a:p>
            <a:r>
              <a:rPr lang="en-US" sz="2000" dirty="0">
                <a:solidFill>
                  <a:srgbClr val="000000"/>
                </a:solidFill>
              </a:rPr>
              <a:t>Activity diagram for </a:t>
            </a:r>
          </a:p>
          <a:p>
            <a:pPr>
              <a:buNone/>
            </a:pPr>
            <a:r>
              <a:rPr lang="en-US" sz="2000" dirty="0">
                <a:solidFill>
                  <a:srgbClr val="000000"/>
                </a:solidFill>
              </a:rPr>
              <a:t> compute Paper Cost( )</a:t>
            </a:r>
          </a:p>
          <a:p>
            <a:endParaRPr lang="en-US" dirty="0"/>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91200" y="0"/>
            <a:ext cx="48768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7754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Step 4 – Persistent Data</a:t>
            </a:r>
            <a:br>
              <a:rPr lang="en-US" dirty="0"/>
            </a:br>
            <a:r>
              <a:rPr lang="en-US" dirty="0"/>
              <a:t>Step 5 – Elaborate Behavior</a:t>
            </a:r>
          </a:p>
        </p:txBody>
      </p:sp>
      <p:sp>
        <p:nvSpPr>
          <p:cNvPr id="3" name="Content Placeholder 2"/>
          <p:cNvSpPr>
            <a:spLocks noGrp="1"/>
          </p:cNvSpPr>
          <p:nvPr>
            <p:ph idx="1"/>
          </p:nvPr>
        </p:nvSpPr>
        <p:spPr/>
        <p:txBody>
          <a:bodyPr/>
          <a:lstStyle/>
          <a:p>
            <a:r>
              <a:rPr lang="en-US" sz="2400" dirty="0">
                <a:solidFill>
                  <a:srgbClr val="000000"/>
                </a:solidFill>
              </a:rPr>
              <a:t>Describe persistent data sources (databases and files) and identify the classes required to manage them.</a:t>
            </a:r>
          </a:p>
          <a:p>
            <a:r>
              <a:rPr lang="en-US" sz="2400" dirty="0">
                <a:solidFill>
                  <a:srgbClr val="000000"/>
                </a:solidFill>
              </a:rPr>
              <a:t>It is sometimes necessary to model the behavior of a design class.</a:t>
            </a:r>
          </a:p>
          <a:p>
            <a:r>
              <a:rPr lang="en-US" sz="2400" dirty="0">
                <a:solidFill>
                  <a:srgbClr val="000000"/>
                </a:solidFill>
              </a:rPr>
              <a:t>Transitions from state to state have the form:</a:t>
            </a:r>
          </a:p>
          <a:p>
            <a:pPr>
              <a:buNone/>
            </a:pPr>
            <a:r>
              <a:rPr lang="en-US" sz="2400" dirty="0">
                <a:solidFill>
                  <a:srgbClr val="000000"/>
                </a:solidFill>
              </a:rPr>
              <a:t>     </a:t>
            </a:r>
            <a:r>
              <a:rPr lang="en-US" sz="2400" b="1" dirty="0">
                <a:solidFill>
                  <a:srgbClr val="000000"/>
                </a:solidFill>
              </a:rPr>
              <a:t> -Event-name (parameter-list) [guard-condition] / action expression</a:t>
            </a:r>
          </a:p>
          <a:p>
            <a:endParaRPr lang="en-US" dirty="0"/>
          </a:p>
        </p:txBody>
      </p:sp>
    </p:spTree>
    <p:extLst>
      <p:ext uri="{BB962C8B-B14F-4D97-AF65-F5344CB8AC3E}">
        <p14:creationId xmlns:p14="http://schemas.microsoft.com/office/powerpoint/2010/main" val="1066761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Step 6 – </a:t>
            </a:r>
            <a:br>
              <a:rPr lang="en-US" dirty="0"/>
            </a:br>
            <a:r>
              <a:rPr lang="en-US" dirty="0" err="1"/>
              <a:t>Elab</a:t>
            </a:r>
            <a:r>
              <a:rPr lang="en-US" dirty="0"/>
              <a:t>. Deployment</a:t>
            </a:r>
          </a:p>
        </p:txBody>
      </p:sp>
      <p:sp>
        <p:nvSpPr>
          <p:cNvPr id="3" name="Content Placeholder 2"/>
          <p:cNvSpPr>
            <a:spLocks noGrp="1"/>
          </p:cNvSpPr>
          <p:nvPr>
            <p:ph idx="1"/>
          </p:nvPr>
        </p:nvSpPr>
        <p:spPr>
          <a:xfrm>
            <a:off x="1143000" y="2373086"/>
            <a:ext cx="10744200" cy="4495800"/>
          </a:xfrm>
        </p:spPr>
        <p:txBody>
          <a:bodyPr/>
          <a:lstStyle/>
          <a:p>
            <a:r>
              <a:rPr lang="en-US" sz="2400" dirty="0">
                <a:solidFill>
                  <a:srgbClr val="000000"/>
                </a:solidFill>
              </a:rPr>
              <a:t>Deployment diagrams are used as part of architectural design and are represented in descriptor form.</a:t>
            </a:r>
          </a:p>
          <a:p>
            <a:r>
              <a:rPr lang="en-US" sz="2400" dirty="0">
                <a:solidFill>
                  <a:srgbClr val="000000"/>
                </a:solidFill>
              </a:rPr>
              <a:t> In this form, major system functions (often represented as subsystems) are represented within the context of the computing environment that will house them.</a:t>
            </a:r>
          </a:p>
          <a:p>
            <a:r>
              <a:rPr lang="en-US" sz="2400" dirty="0">
                <a:solidFill>
                  <a:srgbClr val="000000"/>
                </a:solidFill>
              </a:rPr>
              <a:t>Deployment diagrams are elaborated to represent the location of key packages or components.</a:t>
            </a:r>
          </a:p>
          <a:p>
            <a:r>
              <a:rPr lang="en-US" sz="2400" dirty="0">
                <a:solidFill>
                  <a:srgbClr val="000000"/>
                </a:solidFill>
              </a:rPr>
              <a:t>specific hardware and operating system environment(s) that will be used is (are) specified and the location of component packages within this environment is indicated.</a:t>
            </a:r>
          </a:p>
          <a:p>
            <a:endParaRPr lang="en-US" dirty="0"/>
          </a:p>
        </p:txBody>
      </p:sp>
    </p:spTree>
    <p:extLst>
      <p:ext uri="{BB962C8B-B14F-4D97-AF65-F5344CB8AC3E}">
        <p14:creationId xmlns:p14="http://schemas.microsoft.com/office/powerpoint/2010/main" val="912940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Step 7 – Redesign/Reconsider</a:t>
            </a:r>
          </a:p>
        </p:txBody>
      </p:sp>
      <p:sp>
        <p:nvSpPr>
          <p:cNvPr id="3" name="Content Placeholder 2"/>
          <p:cNvSpPr>
            <a:spLocks noGrp="1"/>
          </p:cNvSpPr>
          <p:nvPr>
            <p:ph idx="1"/>
          </p:nvPr>
        </p:nvSpPr>
        <p:spPr/>
        <p:txBody>
          <a:bodyPr/>
          <a:lstStyle/>
          <a:p>
            <a:r>
              <a:rPr lang="en-US" dirty="0">
                <a:solidFill>
                  <a:srgbClr val="000000"/>
                </a:solidFill>
              </a:rPr>
              <a:t>The first component-level model you create will not be as complete, consistent, or accurate as the nth iteration you apply to the model.</a:t>
            </a:r>
          </a:p>
          <a:p>
            <a:r>
              <a:rPr lang="en-US" dirty="0">
                <a:solidFill>
                  <a:srgbClr val="000000"/>
                </a:solidFill>
              </a:rPr>
              <a:t>The best designers will consider many alternative design solutions before settling on the final design model</a:t>
            </a:r>
            <a:r>
              <a:rPr lang="en-US" dirty="0"/>
              <a:t>.</a:t>
            </a:r>
          </a:p>
          <a:p>
            <a:endParaRPr lang="en-US" dirty="0"/>
          </a:p>
        </p:txBody>
      </p:sp>
    </p:spTree>
    <p:extLst>
      <p:ext uri="{BB962C8B-B14F-4D97-AF65-F5344CB8AC3E}">
        <p14:creationId xmlns:p14="http://schemas.microsoft.com/office/powerpoint/2010/main" val="25471466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71801" y="2819401"/>
            <a:ext cx="6058069" cy="1200329"/>
          </a:xfrm>
          <a:prstGeom prst="rect">
            <a:avLst/>
          </a:prstGeom>
        </p:spPr>
        <p:txBody>
          <a:bodyPr wrap="none">
            <a:spAutoFit/>
          </a:bodyPr>
          <a:lstStyle/>
          <a:p>
            <a:pPr algn="ctr"/>
            <a:r>
              <a:rPr lang="en-US" sz="3600" b="1" dirty="0">
                <a:solidFill>
                  <a:schemeClr val="tx2"/>
                </a:solidFill>
              </a:rPr>
              <a:t>Designing </a:t>
            </a:r>
          </a:p>
          <a:p>
            <a:pPr algn="ctr"/>
            <a:r>
              <a:rPr lang="en-US" sz="3600" b="1" dirty="0">
                <a:solidFill>
                  <a:schemeClr val="tx2"/>
                </a:solidFill>
              </a:rPr>
              <a:t>Conventional Components</a:t>
            </a:r>
          </a:p>
        </p:txBody>
      </p:sp>
    </p:spTree>
    <p:extLst>
      <p:ext uri="{BB962C8B-B14F-4D97-AF65-F5344CB8AC3E}">
        <p14:creationId xmlns:p14="http://schemas.microsoft.com/office/powerpoint/2010/main" val="5679353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Conventional View</a:t>
            </a:r>
          </a:p>
        </p:txBody>
      </p:sp>
      <p:sp>
        <p:nvSpPr>
          <p:cNvPr id="3" name="Content Placeholder 2"/>
          <p:cNvSpPr>
            <a:spLocks noGrp="1"/>
          </p:cNvSpPr>
          <p:nvPr>
            <p:ph idx="1"/>
          </p:nvPr>
        </p:nvSpPr>
        <p:spPr>
          <a:xfrm>
            <a:off x="1143000" y="2362200"/>
            <a:ext cx="10566400" cy="4419600"/>
          </a:xfrm>
        </p:spPr>
        <p:txBody>
          <a:bodyPr/>
          <a:lstStyle/>
          <a:p>
            <a:pPr lvl="0">
              <a:buClrTx/>
              <a:buSzTx/>
              <a:buFontTx/>
              <a:buChar char="•"/>
            </a:pPr>
            <a:r>
              <a:rPr lang="en-US" sz="2000" dirty="0">
                <a:solidFill>
                  <a:srgbClr val="000000"/>
                </a:solidFill>
              </a:rPr>
              <a:t>A component is viewed as a </a:t>
            </a:r>
            <a:r>
              <a:rPr lang="en-US" sz="2000" u="sng" dirty="0">
                <a:solidFill>
                  <a:srgbClr val="000000"/>
                </a:solidFill>
              </a:rPr>
              <a:t>functional</a:t>
            </a:r>
            <a:r>
              <a:rPr lang="en-US" sz="2000" dirty="0">
                <a:solidFill>
                  <a:srgbClr val="000000"/>
                </a:solidFill>
              </a:rPr>
              <a:t> element (i.e., a module) of a program that incorporates</a:t>
            </a:r>
          </a:p>
          <a:p>
            <a:pPr lvl="1">
              <a:buClrTx/>
              <a:buSzTx/>
            </a:pPr>
            <a:r>
              <a:rPr lang="en-US" sz="1800" dirty="0">
                <a:solidFill>
                  <a:srgbClr val="000000"/>
                </a:solidFill>
              </a:rPr>
              <a:t>The </a:t>
            </a:r>
            <a:r>
              <a:rPr lang="en-US" sz="1800" u="sng" dirty="0">
                <a:solidFill>
                  <a:srgbClr val="000000"/>
                </a:solidFill>
              </a:rPr>
              <a:t>processing logic</a:t>
            </a:r>
          </a:p>
          <a:p>
            <a:pPr lvl="1">
              <a:buClrTx/>
              <a:buSzTx/>
            </a:pPr>
            <a:r>
              <a:rPr lang="en-US" sz="1800" dirty="0">
                <a:solidFill>
                  <a:srgbClr val="000000"/>
                </a:solidFill>
              </a:rPr>
              <a:t>The internal </a:t>
            </a:r>
            <a:r>
              <a:rPr lang="en-US" sz="1800" u="sng" dirty="0">
                <a:solidFill>
                  <a:srgbClr val="000000"/>
                </a:solidFill>
              </a:rPr>
              <a:t>data structures</a:t>
            </a:r>
            <a:r>
              <a:rPr lang="en-US" sz="1800" dirty="0">
                <a:solidFill>
                  <a:srgbClr val="000000"/>
                </a:solidFill>
              </a:rPr>
              <a:t> that are required to implement the processing logic</a:t>
            </a:r>
          </a:p>
          <a:p>
            <a:pPr lvl="1">
              <a:buClrTx/>
              <a:buSzTx/>
            </a:pPr>
            <a:r>
              <a:rPr lang="en-US" sz="1800" dirty="0">
                <a:solidFill>
                  <a:srgbClr val="000000"/>
                </a:solidFill>
              </a:rPr>
              <a:t>An </a:t>
            </a:r>
            <a:r>
              <a:rPr lang="en-US" sz="1800" u="sng" dirty="0">
                <a:solidFill>
                  <a:srgbClr val="000000"/>
                </a:solidFill>
              </a:rPr>
              <a:t>interface</a:t>
            </a:r>
            <a:r>
              <a:rPr lang="en-US" sz="1800" dirty="0">
                <a:solidFill>
                  <a:srgbClr val="000000"/>
                </a:solidFill>
              </a:rPr>
              <a:t> that enables the component to be invoked and data to be passed to it</a:t>
            </a:r>
          </a:p>
          <a:p>
            <a:pPr lvl="0">
              <a:buClrTx/>
              <a:buSzTx/>
              <a:buFontTx/>
              <a:buChar char="•"/>
            </a:pPr>
            <a:r>
              <a:rPr lang="en-US" sz="2000" dirty="0">
                <a:solidFill>
                  <a:srgbClr val="000000"/>
                </a:solidFill>
              </a:rPr>
              <a:t>A component serves one of the following roles</a:t>
            </a:r>
          </a:p>
          <a:p>
            <a:pPr lvl="1">
              <a:buClrTx/>
              <a:buSzTx/>
            </a:pPr>
            <a:r>
              <a:rPr lang="en-US" sz="1800" dirty="0">
                <a:solidFill>
                  <a:srgbClr val="000000"/>
                </a:solidFill>
              </a:rPr>
              <a:t>A </a:t>
            </a:r>
            <a:r>
              <a:rPr lang="en-US" sz="1800" u="sng" dirty="0">
                <a:solidFill>
                  <a:srgbClr val="000000"/>
                </a:solidFill>
              </a:rPr>
              <a:t>control</a:t>
            </a:r>
            <a:r>
              <a:rPr lang="en-US" sz="1800" dirty="0">
                <a:solidFill>
                  <a:srgbClr val="000000"/>
                </a:solidFill>
              </a:rPr>
              <a:t> component that coordinates the invocation of all other problem domain components</a:t>
            </a:r>
          </a:p>
          <a:p>
            <a:pPr lvl="1">
              <a:buClrTx/>
              <a:buSzTx/>
            </a:pPr>
            <a:r>
              <a:rPr lang="en-US" sz="1800" dirty="0">
                <a:solidFill>
                  <a:srgbClr val="000000"/>
                </a:solidFill>
              </a:rPr>
              <a:t>A </a:t>
            </a:r>
            <a:r>
              <a:rPr lang="en-US" sz="1800" u="sng" dirty="0">
                <a:solidFill>
                  <a:srgbClr val="000000"/>
                </a:solidFill>
              </a:rPr>
              <a:t>problem domain</a:t>
            </a:r>
            <a:r>
              <a:rPr lang="en-US" sz="1800" dirty="0">
                <a:solidFill>
                  <a:srgbClr val="000000"/>
                </a:solidFill>
              </a:rPr>
              <a:t> component that implements a complete or partial function that is required by the customer</a:t>
            </a:r>
          </a:p>
          <a:p>
            <a:pPr lvl="1">
              <a:buClrTx/>
              <a:buSzTx/>
            </a:pPr>
            <a:r>
              <a:rPr lang="en-US" sz="1800" dirty="0">
                <a:solidFill>
                  <a:srgbClr val="000000"/>
                </a:solidFill>
              </a:rPr>
              <a:t>An </a:t>
            </a:r>
            <a:r>
              <a:rPr lang="en-US" sz="1800" u="sng" dirty="0">
                <a:solidFill>
                  <a:srgbClr val="000000"/>
                </a:solidFill>
              </a:rPr>
              <a:t>infrastructure</a:t>
            </a:r>
            <a:r>
              <a:rPr lang="en-US" sz="1800" dirty="0">
                <a:solidFill>
                  <a:srgbClr val="000000"/>
                </a:solidFill>
              </a:rPr>
              <a:t> component that is responsible for functions that support the processing required in the problem domain</a:t>
            </a:r>
          </a:p>
          <a:p>
            <a:endParaRPr lang="en-US" dirty="0"/>
          </a:p>
        </p:txBody>
      </p:sp>
    </p:spTree>
    <p:extLst>
      <p:ext uri="{BB962C8B-B14F-4D97-AF65-F5344CB8AC3E}">
        <p14:creationId xmlns:p14="http://schemas.microsoft.com/office/powerpoint/2010/main" val="27210162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a:t>
            </a:r>
          </a:p>
        </p:txBody>
      </p:sp>
      <p:sp>
        <p:nvSpPr>
          <p:cNvPr id="3" name="Content Placeholder 2"/>
          <p:cNvSpPr>
            <a:spLocks noGrp="1"/>
          </p:cNvSpPr>
          <p:nvPr>
            <p:ph idx="1"/>
          </p:nvPr>
        </p:nvSpPr>
        <p:spPr>
          <a:xfrm>
            <a:off x="1016000" y="2362200"/>
            <a:ext cx="10795000" cy="4267200"/>
          </a:xfrm>
        </p:spPr>
        <p:txBody>
          <a:bodyPr/>
          <a:lstStyle/>
          <a:p>
            <a:pPr lvl="0">
              <a:lnSpc>
                <a:spcPct val="80000"/>
              </a:lnSpc>
              <a:buClrTx/>
              <a:buSzTx/>
              <a:buFontTx/>
              <a:buChar char="•"/>
            </a:pPr>
            <a:r>
              <a:rPr lang="en-US" sz="2000" dirty="0">
                <a:solidFill>
                  <a:srgbClr val="000000"/>
                </a:solidFill>
              </a:rPr>
              <a:t>Conventional design constructs emphasize the maintainability of a f</a:t>
            </a:r>
            <a:r>
              <a:rPr lang="en-US" sz="2000" u="sng" dirty="0">
                <a:solidFill>
                  <a:srgbClr val="000000"/>
                </a:solidFill>
              </a:rPr>
              <a:t>unctional/procedural </a:t>
            </a:r>
            <a:r>
              <a:rPr lang="en-US" sz="2000" dirty="0">
                <a:solidFill>
                  <a:srgbClr val="000000"/>
                </a:solidFill>
              </a:rPr>
              <a:t>program.</a:t>
            </a:r>
          </a:p>
          <a:p>
            <a:pPr lvl="1">
              <a:lnSpc>
                <a:spcPct val="80000"/>
              </a:lnSpc>
              <a:buClrTx/>
              <a:buSzTx/>
            </a:pPr>
            <a:r>
              <a:rPr lang="en-US" sz="2000" dirty="0">
                <a:solidFill>
                  <a:srgbClr val="000000"/>
                </a:solidFill>
              </a:rPr>
              <a:t>Sequence, condition, and repetition.</a:t>
            </a:r>
          </a:p>
          <a:p>
            <a:pPr marL="457200" lvl="1" indent="0">
              <a:lnSpc>
                <a:spcPct val="80000"/>
              </a:lnSpc>
              <a:buClrTx/>
              <a:buSzTx/>
              <a:buNone/>
            </a:pPr>
            <a:endParaRPr lang="en-US" sz="2000" dirty="0">
              <a:solidFill>
                <a:srgbClr val="000000"/>
              </a:solidFill>
            </a:endParaRPr>
          </a:p>
          <a:p>
            <a:pPr lvl="0">
              <a:lnSpc>
                <a:spcPct val="80000"/>
              </a:lnSpc>
              <a:buClrTx/>
              <a:buSzTx/>
              <a:buFontTx/>
              <a:buChar char="•"/>
            </a:pPr>
            <a:r>
              <a:rPr lang="en-US" sz="2000" dirty="0">
                <a:solidFill>
                  <a:srgbClr val="000000"/>
                </a:solidFill>
              </a:rPr>
              <a:t>Each construct has a </a:t>
            </a:r>
            <a:r>
              <a:rPr lang="en-US" sz="2000" u="sng" dirty="0">
                <a:solidFill>
                  <a:srgbClr val="000000"/>
                </a:solidFill>
              </a:rPr>
              <a:t>predictable</a:t>
            </a:r>
            <a:r>
              <a:rPr lang="en-US" sz="2000" dirty="0">
                <a:solidFill>
                  <a:srgbClr val="000000"/>
                </a:solidFill>
              </a:rPr>
              <a:t> logical structure where control enters at the top and exits at the bottom, enabling a maintainer to easily follow the procedural flow.</a:t>
            </a:r>
          </a:p>
          <a:p>
            <a:pPr lvl="0">
              <a:lnSpc>
                <a:spcPct val="80000"/>
              </a:lnSpc>
              <a:buClrTx/>
              <a:buSzTx/>
              <a:buFontTx/>
              <a:buChar char="•"/>
            </a:pPr>
            <a:endParaRPr lang="en-US" sz="2000" dirty="0">
              <a:solidFill>
                <a:srgbClr val="000000"/>
              </a:solidFill>
            </a:endParaRPr>
          </a:p>
          <a:p>
            <a:pPr lvl="0">
              <a:lnSpc>
                <a:spcPct val="80000"/>
              </a:lnSpc>
              <a:buClrTx/>
              <a:buSzTx/>
              <a:buFontTx/>
              <a:buChar char="•"/>
            </a:pPr>
            <a:r>
              <a:rPr lang="en-US" sz="2000" dirty="0">
                <a:solidFill>
                  <a:srgbClr val="000000"/>
                </a:solidFill>
              </a:rPr>
              <a:t>Elements of structured programming:</a:t>
            </a:r>
          </a:p>
          <a:p>
            <a:pPr marL="0" indent="0">
              <a:lnSpc>
                <a:spcPct val="80000"/>
              </a:lnSpc>
              <a:buClrTx/>
              <a:buSzTx/>
              <a:buNone/>
            </a:pPr>
            <a:r>
              <a:rPr lang="en-US" sz="2000" dirty="0">
                <a:solidFill>
                  <a:srgbClr val="000000"/>
                </a:solidFill>
              </a:rPr>
              <a:t>            -</a:t>
            </a:r>
            <a:r>
              <a:rPr lang="en-US" sz="2000" b="1" dirty="0">
                <a:solidFill>
                  <a:srgbClr val="000000"/>
                </a:solidFill>
              </a:rPr>
              <a:t>Sequence</a:t>
            </a:r>
            <a:r>
              <a:rPr lang="en-US" sz="2000" dirty="0">
                <a:solidFill>
                  <a:srgbClr val="000000"/>
                </a:solidFill>
              </a:rPr>
              <a:t> implements processing steps that are essential in the specification of any algorithm. </a:t>
            </a:r>
          </a:p>
          <a:p>
            <a:pPr marL="0" indent="0">
              <a:lnSpc>
                <a:spcPct val="80000"/>
              </a:lnSpc>
              <a:buClrTx/>
              <a:buSzTx/>
              <a:buNone/>
            </a:pPr>
            <a:r>
              <a:rPr lang="en-US" sz="2000" dirty="0">
                <a:solidFill>
                  <a:srgbClr val="000000"/>
                </a:solidFill>
              </a:rPr>
              <a:t>            </a:t>
            </a:r>
            <a:r>
              <a:rPr lang="en-US" sz="2000" b="1" dirty="0">
                <a:solidFill>
                  <a:srgbClr val="000000"/>
                </a:solidFill>
              </a:rPr>
              <a:t>-Condition </a:t>
            </a:r>
            <a:r>
              <a:rPr lang="en-US" sz="2000" dirty="0">
                <a:solidFill>
                  <a:srgbClr val="000000"/>
                </a:solidFill>
              </a:rPr>
              <a:t>provides the facility for selected processing based on some logical occurrence, and</a:t>
            </a:r>
          </a:p>
          <a:p>
            <a:pPr marL="0" indent="0">
              <a:lnSpc>
                <a:spcPct val="80000"/>
              </a:lnSpc>
              <a:buClrTx/>
              <a:buSzTx/>
              <a:buNone/>
            </a:pPr>
            <a:r>
              <a:rPr lang="en-US" sz="2000" dirty="0">
                <a:solidFill>
                  <a:srgbClr val="000000"/>
                </a:solidFill>
              </a:rPr>
              <a:t>             -</a:t>
            </a:r>
            <a:r>
              <a:rPr lang="en-US" sz="2000" b="1" dirty="0">
                <a:solidFill>
                  <a:srgbClr val="000000"/>
                </a:solidFill>
              </a:rPr>
              <a:t>Repetition</a:t>
            </a:r>
            <a:r>
              <a:rPr lang="en-US" sz="2000" dirty="0">
                <a:solidFill>
                  <a:srgbClr val="000000"/>
                </a:solidFill>
              </a:rPr>
              <a:t> allows for looping. </a:t>
            </a:r>
          </a:p>
          <a:p>
            <a:pPr lvl="0">
              <a:lnSpc>
                <a:spcPct val="80000"/>
              </a:lnSpc>
              <a:buClrTx/>
              <a:buSzTx/>
              <a:buFontTx/>
              <a:buChar char="•"/>
            </a:pPr>
            <a:r>
              <a:rPr lang="en-US" sz="2000" dirty="0">
                <a:solidFill>
                  <a:srgbClr val="000000"/>
                </a:solidFill>
              </a:rPr>
              <a:t>These three constructs are fundamental to structured programming</a:t>
            </a:r>
          </a:p>
          <a:p>
            <a:pPr marL="914400" lvl="2" indent="0">
              <a:lnSpc>
                <a:spcPct val="80000"/>
              </a:lnSpc>
              <a:buClrTx/>
              <a:buSzTx/>
              <a:buNone/>
            </a:pPr>
            <a:endParaRPr lang="en-US" dirty="0">
              <a:solidFill>
                <a:srgbClr val="000000"/>
              </a:solidFill>
            </a:endParaRPr>
          </a:p>
          <a:p>
            <a:endParaRPr lang="en-US" dirty="0"/>
          </a:p>
        </p:txBody>
      </p:sp>
    </p:spTree>
    <p:extLst>
      <p:ext uri="{BB962C8B-B14F-4D97-AF65-F5344CB8AC3E}">
        <p14:creationId xmlns:p14="http://schemas.microsoft.com/office/powerpoint/2010/main" val="498786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a:t>
            </a:r>
          </a:p>
        </p:txBody>
      </p:sp>
      <p:sp>
        <p:nvSpPr>
          <p:cNvPr id="3" name="Content Placeholder 2"/>
          <p:cNvSpPr>
            <a:spLocks noGrp="1"/>
          </p:cNvSpPr>
          <p:nvPr>
            <p:ph idx="1"/>
          </p:nvPr>
        </p:nvSpPr>
        <p:spPr/>
        <p:txBody>
          <a:bodyPr/>
          <a:lstStyle/>
          <a:p>
            <a:pPr lvl="0">
              <a:lnSpc>
                <a:spcPct val="80000"/>
              </a:lnSpc>
              <a:buClrTx/>
              <a:buSzTx/>
              <a:buFontTx/>
              <a:buChar char="•"/>
            </a:pPr>
            <a:r>
              <a:rPr lang="en-US" sz="2200" dirty="0">
                <a:solidFill>
                  <a:srgbClr val="000000"/>
                </a:solidFill>
              </a:rPr>
              <a:t>Various notations depict the use of these constructs</a:t>
            </a:r>
          </a:p>
          <a:p>
            <a:pPr lvl="0">
              <a:lnSpc>
                <a:spcPct val="80000"/>
              </a:lnSpc>
              <a:buClrTx/>
              <a:buSzTx/>
              <a:buFontTx/>
              <a:buChar char="•"/>
            </a:pPr>
            <a:endParaRPr lang="en-US" sz="2200" dirty="0">
              <a:solidFill>
                <a:srgbClr val="000000"/>
              </a:solidFill>
            </a:endParaRPr>
          </a:p>
          <a:p>
            <a:pPr lvl="1">
              <a:lnSpc>
                <a:spcPct val="80000"/>
              </a:lnSpc>
              <a:buClrTx/>
              <a:buSzTx/>
            </a:pPr>
            <a:r>
              <a:rPr lang="en-US" sz="2200" b="1" dirty="0">
                <a:solidFill>
                  <a:srgbClr val="000000"/>
                </a:solidFill>
              </a:rPr>
              <a:t>Graphical design notation</a:t>
            </a:r>
          </a:p>
          <a:p>
            <a:pPr lvl="2">
              <a:lnSpc>
                <a:spcPct val="80000"/>
              </a:lnSpc>
              <a:buClrTx/>
              <a:buSzTx/>
              <a:buFontTx/>
              <a:buChar char="•"/>
            </a:pPr>
            <a:r>
              <a:rPr lang="en-US" sz="2200" dirty="0">
                <a:solidFill>
                  <a:srgbClr val="000000"/>
                </a:solidFill>
              </a:rPr>
              <a:t>Sequence, if-then-else, selection, repetition</a:t>
            </a:r>
          </a:p>
          <a:p>
            <a:pPr lvl="2">
              <a:lnSpc>
                <a:spcPct val="80000"/>
              </a:lnSpc>
              <a:buClrTx/>
              <a:buSzTx/>
              <a:buFontTx/>
              <a:buChar char="•"/>
            </a:pPr>
            <a:endParaRPr lang="en-US" sz="2200" dirty="0">
              <a:solidFill>
                <a:srgbClr val="000000"/>
              </a:solidFill>
            </a:endParaRPr>
          </a:p>
          <a:p>
            <a:pPr lvl="1">
              <a:lnSpc>
                <a:spcPct val="80000"/>
              </a:lnSpc>
              <a:buClrTx/>
              <a:buSzTx/>
            </a:pPr>
            <a:r>
              <a:rPr lang="en-US" sz="2200" b="1" dirty="0">
                <a:solidFill>
                  <a:srgbClr val="000000"/>
                </a:solidFill>
              </a:rPr>
              <a:t>Tabular design notation </a:t>
            </a:r>
          </a:p>
          <a:p>
            <a:pPr marL="457200" lvl="1" indent="0">
              <a:lnSpc>
                <a:spcPct val="80000"/>
              </a:lnSpc>
              <a:buClrTx/>
              <a:buSzTx/>
              <a:buNone/>
            </a:pPr>
            <a:endParaRPr lang="en-US" sz="2200" b="1" dirty="0">
              <a:solidFill>
                <a:srgbClr val="000000"/>
              </a:solidFill>
            </a:endParaRPr>
          </a:p>
          <a:p>
            <a:pPr lvl="1">
              <a:lnSpc>
                <a:spcPct val="80000"/>
              </a:lnSpc>
              <a:buClrTx/>
              <a:buSzTx/>
            </a:pPr>
            <a:r>
              <a:rPr lang="en-US" sz="2200" b="1" dirty="0">
                <a:solidFill>
                  <a:srgbClr val="000000"/>
                </a:solidFill>
              </a:rPr>
              <a:t>Program design language</a:t>
            </a:r>
          </a:p>
          <a:p>
            <a:pPr lvl="2">
              <a:lnSpc>
                <a:spcPct val="80000"/>
              </a:lnSpc>
              <a:buClrTx/>
              <a:buSzTx/>
              <a:buFontTx/>
              <a:buChar char="•"/>
            </a:pPr>
            <a:r>
              <a:rPr lang="en-US" sz="2200" dirty="0">
                <a:solidFill>
                  <a:srgbClr val="000000"/>
                </a:solidFill>
              </a:rPr>
              <a:t>Similar to a programming language; however, it uses narrative text embedded directly within the program statements</a:t>
            </a:r>
          </a:p>
          <a:p>
            <a:endParaRPr lang="en-US" dirty="0"/>
          </a:p>
        </p:txBody>
      </p:sp>
    </p:spTree>
    <p:extLst>
      <p:ext uri="{BB962C8B-B14F-4D97-AF65-F5344CB8AC3E}">
        <p14:creationId xmlns:p14="http://schemas.microsoft.com/office/powerpoint/2010/main" val="40720263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Graphical Design Notation</a:t>
            </a:r>
          </a:p>
        </p:txBody>
      </p:sp>
      <p:sp>
        <p:nvSpPr>
          <p:cNvPr id="3" name="Content Placeholder 2"/>
          <p:cNvSpPr>
            <a:spLocks noGrp="1"/>
          </p:cNvSpPr>
          <p:nvPr>
            <p:ph idx="1"/>
          </p:nvPr>
        </p:nvSpPr>
        <p:spPr/>
        <p:txBody>
          <a:bodyPr/>
          <a:lstStyle/>
          <a:p>
            <a:r>
              <a:rPr lang="en-US" sz="2400" dirty="0">
                <a:solidFill>
                  <a:srgbClr val="000000"/>
                </a:solidFill>
              </a:rPr>
              <a:t>A picture is worth a thousand words,” but it’s rather important to know which picture and which 1000 words.</a:t>
            </a:r>
          </a:p>
          <a:p>
            <a:r>
              <a:rPr lang="en-US" sz="2400" dirty="0">
                <a:solidFill>
                  <a:srgbClr val="000000"/>
                </a:solidFill>
              </a:rPr>
              <a:t>UML activity diagram or the flowchart, provide useful pictorial patterns that readily depict procedural detail. </a:t>
            </a:r>
          </a:p>
          <a:p>
            <a:r>
              <a:rPr lang="en-US" sz="2400" dirty="0">
                <a:solidFill>
                  <a:srgbClr val="000000"/>
                </a:solidFill>
              </a:rPr>
              <a:t>However, if graphical tools are misused, the wrong picture may lead to the wrong software.</a:t>
            </a:r>
          </a:p>
          <a:p>
            <a:r>
              <a:rPr lang="en-US" sz="2400" dirty="0">
                <a:solidFill>
                  <a:srgbClr val="000000"/>
                </a:solidFill>
              </a:rPr>
              <a:t>The activity diagram allows you to represent sequence, condition, and repetition—all elements of structured programming.</a:t>
            </a:r>
          </a:p>
          <a:p>
            <a:endParaRPr lang="en-US" dirty="0"/>
          </a:p>
        </p:txBody>
      </p:sp>
    </p:spTree>
    <p:extLst>
      <p:ext uri="{BB962C8B-B14F-4D97-AF65-F5344CB8AC3E}">
        <p14:creationId xmlns:p14="http://schemas.microsoft.com/office/powerpoint/2010/main" val="40828738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Graphical Design Notation</a:t>
            </a:r>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743200" y="2667000"/>
            <a:ext cx="76200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03541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Graphical Example used for Algorithm Analysis</a:t>
            </a:r>
          </a:p>
        </p:txBody>
      </p:sp>
      <p:pic>
        <p:nvPicPr>
          <p:cNvPr id="205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286000" y="2318657"/>
            <a:ext cx="4264706"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0707" y="1600201"/>
            <a:ext cx="4084637" cy="574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61314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Tabular Design Notation</a:t>
            </a:r>
          </a:p>
        </p:txBody>
      </p:sp>
      <p:sp>
        <p:nvSpPr>
          <p:cNvPr id="3" name="Content Placeholder 2"/>
          <p:cNvSpPr>
            <a:spLocks noGrp="1"/>
          </p:cNvSpPr>
          <p:nvPr>
            <p:ph idx="1"/>
          </p:nvPr>
        </p:nvSpPr>
        <p:spPr>
          <a:xfrm>
            <a:off x="1016000" y="2362200"/>
            <a:ext cx="10795000" cy="4343400"/>
          </a:xfrm>
        </p:spPr>
        <p:txBody>
          <a:bodyPr/>
          <a:lstStyle/>
          <a:p>
            <a:r>
              <a:rPr lang="en-US" sz="2000" dirty="0">
                <a:solidFill>
                  <a:srgbClr val="000000"/>
                </a:solidFill>
              </a:rPr>
              <a:t>Decision tables provide a notation that translates actions and conditions(described in a processing narrative or a use case) into a tabular form.</a:t>
            </a:r>
          </a:p>
          <a:p>
            <a:r>
              <a:rPr lang="en-US" sz="2000" b="1" dirty="0">
                <a:solidFill>
                  <a:srgbClr val="000000"/>
                </a:solidFill>
              </a:rPr>
              <a:t>Steps to formulate decision table:</a:t>
            </a:r>
          </a:p>
          <a:p>
            <a:r>
              <a:rPr lang="en-US" sz="2000" dirty="0">
                <a:solidFill>
                  <a:srgbClr val="000000"/>
                </a:solidFill>
              </a:rPr>
              <a:t>List all actions that can be associated with a specific procedure (or module)</a:t>
            </a:r>
          </a:p>
          <a:p>
            <a:r>
              <a:rPr lang="en-US" sz="2000" dirty="0">
                <a:solidFill>
                  <a:srgbClr val="000000"/>
                </a:solidFill>
              </a:rPr>
              <a:t>List all conditions (or decisions made) during execution of the procedure</a:t>
            </a:r>
          </a:p>
          <a:p>
            <a:r>
              <a:rPr lang="en-US" sz="2000" dirty="0">
                <a:solidFill>
                  <a:srgbClr val="000000"/>
                </a:solidFill>
              </a:rPr>
              <a:t>Associate specific sets of conditions with specific actions, eliminating impossible combinations of conditions; alternatively, develop every possible permutation of conditions</a:t>
            </a:r>
          </a:p>
          <a:p>
            <a:r>
              <a:rPr lang="en-US" sz="2000" dirty="0">
                <a:solidFill>
                  <a:srgbClr val="000000"/>
                </a:solidFill>
              </a:rPr>
              <a:t>Define rules by indicating what action(s) occurs for a set of conditions</a:t>
            </a:r>
          </a:p>
          <a:p>
            <a:endParaRPr lang="en-US" dirty="0"/>
          </a:p>
        </p:txBody>
      </p:sp>
    </p:spTree>
    <p:extLst>
      <p:ext uri="{BB962C8B-B14F-4D97-AF65-F5344CB8AC3E}">
        <p14:creationId xmlns:p14="http://schemas.microsoft.com/office/powerpoint/2010/main" val="33516465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Tabular Design Notation</a:t>
            </a:r>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667000" y="2453296"/>
            <a:ext cx="7696200" cy="417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76522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219200" y="2286000"/>
            <a:ext cx="10566400" cy="4343400"/>
          </a:xfrm>
        </p:spPr>
        <p:txBody>
          <a:bodyPr/>
          <a:lstStyle/>
          <a:p>
            <a:r>
              <a:rPr lang="en-US" sz="2200" dirty="0">
                <a:solidFill>
                  <a:srgbClr val="000000"/>
                </a:solidFill>
              </a:rPr>
              <a:t>Three types of customers are defined: a regular customer, a silver customer, and a gold customer </a:t>
            </a:r>
          </a:p>
          <a:p>
            <a:r>
              <a:rPr lang="en-US" sz="2200" dirty="0">
                <a:solidFill>
                  <a:srgbClr val="000000"/>
                </a:solidFill>
              </a:rPr>
              <a:t>A regular customer receives normal print rates and delivery. </a:t>
            </a:r>
          </a:p>
          <a:p>
            <a:r>
              <a:rPr lang="en-US" sz="2200" dirty="0">
                <a:solidFill>
                  <a:srgbClr val="000000"/>
                </a:solidFill>
              </a:rPr>
              <a:t>A silver customer gets an 8 percent discount on all quotes and is placed ahead of all regular customers in the job queue. </a:t>
            </a:r>
          </a:p>
          <a:p>
            <a:r>
              <a:rPr lang="en-US" sz="2200" dirty="0">
                <a:solidFill>
                  <a:srgbClr val="000000"/>
                </a:solidFill>
              </a:rPr>
              <a:t>A gold customer gets a 15 percent reduction in quoted prices and is placed ahead of both regular and silver customers in the job queue.</a:t>
            </a:r>
          </a:p>
          <a:p>
            <a:r>
              <a:rPr lang="en-US" sz="2200" dirty="0">
                <a:solidFill>
                  <a:srgbClr val="000000"/>
                </a:solidFill>
              </a:rPr>
              <a:t>A special discount of </a:t>
            </a:r>
            <a:r>
              <a:rPr lang="en-US" sz="2200" i="1" dirty="0">
                <a:solidFill>
                  <a:srgbClr val="000000"/>
                </a:solidFill>
              </a:rPr>
              <a:t>x </a:t>
            </a:r>
            <a:r>
              <a:rPr lang="en-US" sz="2200" dirty="0">
                <a:solidFill>
                  <a:srgbClr val="000000"/>
                </a:solidFill>
              </a:rPr>
              <a:t>percent in addition to other discounts can be applied to any customer’s quote at the discretion of management.</a:t>
            </a:r>
          </a:p>
        </p:txBody>
      </p:sp>
    </p:spTree>
    <p:extLst>
      <p:ext uri="{BB962C8B-B14F-4D97-AF65-F5344CB8AC3E}">
        <p14:creationId xmlns:p14="http://schemas.microsoft.com/office/powerpoint/2010/main" val="41180646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Program Design Language(PDL)</a:t>
            </a:r>
          </a:p>
        </p:txBody>
      </p:sp>
      <p:sp>
        <p:nvSpPr>
          <p:cNvPr id="3" name="Content Placeholder 2"/>
          <p:cNvSpPr>
            <a:spLocks noGrp="1"/>
          </p:cNvSpPr>
          <p:nvPr>
            <p:ph idx="1"/>
          </p:nvPr>
        </p:nvSpPr>
        <p:spPr>
          <a:xfrm>
            <a:off x="1219200" y="2362200"/>
            <a:ext cx="10566400" cy="4038600"/>
          </a:xfrm>
        </p:spPr>
        <p:txBody>
          <a:bodyPr/>
          <a:lstStyle/>
          <a:p>
            <a:r>
              <a:rPr lang="en-US" sz="2400" i="1" dirty="0">
                <a:solidFill>
                  <a:srgbClr val="000000"/>
                </a:solidFill>
              </a:rPr>
              <a:t>Program design language (PDL), also called structured English or pseudo code, incorporates </a:t>
            </a:r>
            <a:r>
              <a:rPr lang="en-US" sz="2400" dirty="0">
                <a:solidFill>
                  <a:srgbClr val="000000"/>
                </a:solidFill>
              </a:rPr>
              <a:t>the logical structure of a programming language with the free-form expressive ability of a natural language (e.g., English).</a:t>
            </a:r>
          </a:p>
          <a:p>
            <a:r>
              <a:rPr lang="en-US" sz="2400" dirty="0">
                <a:solidFill>
                  <a:srgbClr val="000000"/>
                </a:solidFill>
              </a:rPr>
              <a:t> Narrative text (e.g., English) is embedded within a programming language-like syntax.</a:t>
            </a:r>
          </a:p>
          <a:p>
            <a:r>
              <a:rPr lang="en-US" sz="2400" dirty="0">
                <a:solidFill>
                  <a:srgbClr val="000000"/>
                </a:solidFill>
              </a:rPr>
              <a:t>Basic PDL syntax should include constructs for component definition, interface description, data declaration, block structuring, condition constructs, repetition constructs, and input-output (I/O) constructs.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The user interface</a:t>
            </a:r>
          </a:p>
        </p:txBody>
      </p:sp>
      <p:sp>
        <p:nvSpPr>
          <p:cNvPr id="3" name="Content Placeholder 2"/>
          <p:cNvSpPr>
            <a:spLocks noGrp="1"/>
          </p:cNvSpPr>
          <p:nvPr>
            <p:ph idx="1"/>
          </p:nvPr>
        </p:nvSpPr>
        <p:spPr/>
        <p:txBody>
          <a:bodyPr/>
          <a:lstStyle/>
          <a:p>
            <a:r>
              <a:rPr lang="en-US" dirty="0">
                <a:solidFill>
                  <a:srgbClr val="000000"/>
                </a:solidFill>
              </a:rPr>
              <a:t>System users often judge a system by its </a:t>
            </a:r>
            <a:br>
              <a:rPr lang="en-US" dirty="0">
                <a:solidFill>
                  <a:srgbClr val="000000"/>
                </a:solidFill>
              </a:rPr>
            </a:br>
            <a:r>
              <a:rPr lang="en-US" dirty="0">
                <a:solidFill>
                  <a:srgbClr val="000000"/>
                </a:solidFill>
              </a:rPr>
              <a:t>interface rather than its functionality.</a:t>
            </a:r>
          </a:p>
          <a:p>
            <a:r>
              <a:rPr lang="en-US" dirty="0">
                <a:solidFill>
                  <a:srgbClr val="000000"/>
                </a:solidFill>
              </a:rPr>
              <a:t>A poorly designed interface can cause a user to make catastrophic errors.</a:t>
            </a:r>
          </a:p>
          <a:p>
            <a:r>
              <a:rPr lang="en-US" dirty="0">
                <a:solidFill>
                  <a:srgbClr val="000000"/>
                </a:solidFill>
              </a:rPr>
              <a:t>Poor user interface design is the reason why so many software systems are never used.</a:t>
            </a:r>
          </a:p>
          <a:p>
            <a:endParaRPr lang="en-US" dirty="0"/>
          </a:p>
        </p:txBody>
      </p:sp>
    </p:spTree>
    <p:extLst>
      <p:ext uri="{BB962C8B-B14F-4D97-AF65-F5344CB8AC3E}">
        <p14:creationId xmlns:p14="http://schemas.microsoft.com/office/powerpoint/2010/main" val="30656394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UI design principles</a:t>
            </a:r>
          </a:p>
        </p:txBody>
      </p:sp>
      <p:sp>
        <p:nvSpPr>
          <p:cNvPr id="3" name="Content Placeholder 2"/>
          <p:cNvSpPr>
            <a:spLocks noGrp="1"/>
          </p:cNvSpPr>
          <p:nvPr>
            <p:ph idx="1"/>
          </p:nvPr>
        </p:nvSpPr>
        <p:spPr>
          <a:xfrm>
            <a:off x="1143000" y="2362200"/>
            <a:ext cx="10744200" cy="4343400"/>
          </a:xfrm>
        </p:spPr>
        <p:txBody>
          <a:bodyPr/>
          <a:lstStyle/>
          <a:p>
            <a:r>
              <a:rPr lang="en-US" sz="2000" b="1" dirty="0">
                <a:solidFill>
                  <a:srgbClr val="000000"/>
                </a:solidFill>
              </a:rPr>
              <a:t>User familiarity</a:t>
            </a:r>
          </a:p>
          <a:p>
            <a:pPr marL="0" indent="0">
              <a:buNone/>
            </a:pPr>
            <a:r>
              <a:rPr lang="en-US" sz="2000" dirty="0">
                <a:solidFill>
                  <a:srgbClr val="000000"/>
                </a:solidFill>
              </a:rPr>
              <a:t>      -The interface should be based on user-oriented </a:t>
            </a:r>
            <a:br>
              <a:rPr lang="en-US" sz="2000" dirty="0">
                <a:solidFill>
                  <a:srgbClr val="000000"/>
                </a:solidFill>
              </a:rPr>
            </a:br>
            <a:r>
              <a:rPr lang="en-US" sz="2000" dirty="0">
                <a:solidFill>
                  <a:srgbClr val="000000"/>
                </a:solidFill>
              </a:rPr>
              <a:t>terms and concepts rather than computer concepts. For example, an office system should use concepts such as letters, documents, folders etc. rather than directories, file identifiers, etc.</a:t>
            </a:r>
          </a:p>
          <a:p>
            <a:r>
              <a:rPr lang="en-US" sz="2000" b="1" dirty="0">
                <a:solidFill>
                  <a:srgbClr val="000000"/>
                </a:solidFill>
              </a:rPr>
              <a:t>Consistency</a:t>
            </a:r>
          </a:p>
          <a:p>
            <a:pPr marL="0" indent="0">
              <a:buNone/>
            </a:pPr>
            <a:r>
              <a:rPr lang="en-US" sz="2000" dirty="0">
                <a:solidFill>
                  <a:srgbClr val="000000"/>
                </a:solidFill>
              </a:rPr>
              <a:t>      -The system should display an appropriate level </a:t>
            </a:r>
            <a:br>
              <a:rPr lang="en-US" sz="2000" dirty="0">
                <a:solidFill>
                  <a:srgbClr val="000000"/>
                </a:solidFill>
              </a:rPr>
            </a:br>
            <a:r>
              <a:rPr lang="en-US" sz="2000" dirty="0">
                <a:solidFill>
                  <a:srgbClr val="000000"/>
                </a:solidFill>
              </a:rPr>
              <a:t>of consistency. Commands and menus should have the same format, command punctuation should be similar, etc.</a:t>
            </a:r>
          </a:p>
          <a:p>
            <a:r>
              <a:rPr lang="en-US" sz="2000" b="1" dirty="0">
                <a:solidFill>
                  <a:srgbClr val="000000"/>
                </a:solidFill>
              </a:rPr>
              <a:t>Minimal surprise</a:t>
            </a:r>
          </a:p>
          <a:p>
            <a:pPr marL="0" indent="0">
              <a:buNone/>
            </a:pPr>
            <a:r>
              <a:rPr lang="en-US" sz="2000" dirty="0">
                <a:solidFill>
                  <a:srgbClr val="000000"/>
                </a:solidFill>
              </a:rPr>
              <a:t>      -If a command operates in a known way, the user should be </a:t>
            </a:r>
            <a:br>
              <a:rPr lang="en-US" sz="2000" dirty="0">
                <a:solidFill>
                  <a:srgbClr val="000000"/>
                </a:solidFill>
              </a:rPr>
            </a:br>
            <a:r>
              <a:rPr lang="en-US" sz="2000" dirty="0">
                <a:solidFill>
                  <a:srgbClr val="000000"/>
                </a:solidFill>
              </a:rPr>
              <a:t>able to predict the operation of comparable commands</a:t>
            </a:r>
          </a:p>
          <a:p>
            <a:endParaRPr lang="en-US" dirty="0"/>
          </a:p>
        </p:txBody>
      </p:sp>
    </p:spTree>
    <p:extLst>
      <p:ext uri="{BB962C8B-B14F-4D97-AF65-F5344CB8AC3E}">
        <p14:creationId xmlns:p14="http://schemas.microsoft.com/office/powerpoint/2010/main" val="31643640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UI design principles</a:t>
            </a:r>
          </a:p>
        </p:txBody>
      </p:sp>
      <p:sp>
        <p:nvSpPr>
          <p:cNvPr id="3" name="Content Placeholder 2"/>
          <p:cNvSpPr>
            <a:spLocks noGrp="1"/>
          </p:cNvSpPr>
          <p:nvPr>
            <p:ph idx="1"/>
          </p:nvPr>
        </p:nvSpPr>
        <p:spPr>
          <a:xfrm>
            <a:off x="1143000" y="2362200"/>
            <a:ext cx="10820400" cy="4267200"/>
          </a:xfrm>
        </p:spPr>
        <p:txBody>
          <a:bodyPr/>
          <a:lstStyle/>
          <a:p>
            <a:r>
              <a:rPr lang="en-US" sz="2000" b="1" dirty="0">
                <a:solidFill>
                  <a:srgbClr val="000000"/>
                </a:solidFill>
              </a:rPr>
              <a:t>Recoverability</a:t>
            </a:r>
          </a:p>
          <a:p>
            <a:pPr marL="0" indent="0">
              <a:buNone/>
            </a:pPr>
            <a:r>
              <a:rPr lang="en-US" sz="2000" dirty="0">
                <a:solidFill>
                  <a:srgbClr val="000000"/>
                </a:solidFill>
              </a:rPr>
              <a:t>   -The system should provide some resilience to </a:t>
            </a:r>
            <a:br>
              <a:rPr lang="en-US" sz="2000" dirty="0">
                <a:solidFill>
                  <a:srgbClr val="000000"/>
                </a:solidFill>
              </a:rPr>
            </a:br>
            <a:r>
              <a:rPr lang="en-US" sz="2000" dirty="0">
                <a:solidFill>
                  <a:srgbClr val="000000"/>
                </a:solidFill>
              </a:rPr>
              <a:t>user errors and allow the user to recover from errors. This might include an undo facility, confirmation of  destructive actions, 'soft' deletes, etc.</a:t>
            </a:r>
          </a:p>
          <a:p>
            <a:r>
              <a:rPr lang="en-US" sz="2000" b="1" dirty="0">
                <a:solidFill>
                  <a:srgbClr val="000000"/>
                </a:solidFill>
              </a:rPr>
              <a:t>User guidance</a:t>
            </a:r>
          </a:p>
          <a:p>
            <a:pPr marL="0" indent="0">
              <a:buNone/>
            </a:pPr>
            <a:r>
              <a:rPr lang="en-US" sz="2000" dirty="0">
                <a:solidFill>
                  <a:srgbClr val="000000"/>
                </a:solidFill>
              </a:rPr>
              <a:t>   -Some user guidance such as help systems, on-line manuals, etc. should be supplied</a:t>
            </a:r>
          </a:p>
          <a:p>
            <a:r>
              <a:rPr lang="en-US" sz="2000" b="1" dirty="0">
                <a:solidFill>
                  <a:srgbClr val="000000"/>
                </a:solidFill>
              </a:rPr>
              <a:t>User diversity</a:t>
            </a:r>
          </a:p>
          <a:p>
            <a:pPr marL="0" indent="0">
              <a:buNone/>
            </a:pPr>
            <a:r>
              <a:rPr lang="en-US" sz="2000" dirty="0">
                <a:solidFill>
                  <a:srgbClr val="000000"/>
                </a:solidFill>
              </a:rPr>
              <a:t>    -Interaction facilities for different types of user should be supported. For example, some users have seeing difficulties and so larger text should be available</a:t>
            </a:r>
          </a:p>
          <a:p>
            <a:endParaRPr lang="en-US" dirty="0"/>
          </a:p>
        </p:txBody>
      </p:sp>
    </p:spTree>
    <p:extLst>
      <p:ext uri="{BB962C8B-B14F-4D97-AF65-F5344CB8AC3E}">
        <p14:creationId xmlns:p14="http://schemas.microsoft.com/office/powerpoint/2010/main" val="32992747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User-system interaction</a:t>
            </a:r>
          </a:p>
        </p:txBody>
      </p:sp>
      <p:sp>
        <p:nvSpPr>
          <p:cNvPr id="3" name="Content Placeholder 2"/>
          <p:cNvSpPr>
            <a:spLocks noGrp="1"/>
          </p:cNvSpPr>
          <p:nvPr>
            <p:ph idx="1"/>
          </p:nvPr>
        </p:nvSpPr>
        <p:spPr>
          <a:xfrm>
            <a:off x="1016000" y="2438401"/>
            <a:ext cx="10718799" cy="3724275"/>
          </a:xfrm>
        </p:spPr>
        <p:txBody>
          <a:bodyPr/>
          <a:lstStyle/>
          <a:p>
            <a:r>
              <a:rPr lang="en-US" sz="2000" dirty="0">
                <a:solidFill>
                  <a:srgbClr val="000000"/>
                </a:solidFill>
              </a:rPr>
              <a:t>Two problems must be addressed in interactive systems design</a:t>
            </a:r>
          </a:p>
          <a:p>
            <a:pPr marL="0" indent="0">
              <a:buNone/>
            </a:pPr>
            <a:r>
              <a:rPr lang="en-US" sz="2000" dirty="0">
                <a:solidFill>
                  <a:srgbClr val="000000"/>
                </a:solidFill>
              </a:rPr>
              <a:t>              -How should information from the user be provided to the computer system?</a:t>
            </a:r>
          </a:p>
          <a:p>
            <a:pPr marL="0" indent="0">
              <a:buNone/>
            </a:pPr>
            <a:r>
              <a:rPr lang="en-US" sz="2000" dirty="0">
                <a:solidFill>
                  <a:srgbClr val="000000"/>
                </a:solidFill>
              </a:rPr>
              <a:t>              -How should information from the computer system be presented to the user?</a:t>
            </a:r>
          </a:p>
          <a:p>
            <a:r>
              <a:rPr lang="en-US" sz="2000" dirty="0">
                <a:solidFill>
                  <a:srgbClr val="000000"/>
                </a:solidFill>
              </a:rPr>
              <a:t>User interaction and information presentation may be integrated through a coherent framework such as a user interface metaphor.</a:t>
            </a:r>
          </a:p>
          <a:p>
            <a:endParaRPr lang="en-US" dirty="0"/>
          </a:p>
        </p:txBody>
      </p:sp>
    </p:spTree>
    <p:extLst>
      <p:ext uri="{BB962C8B-B14F-4D97-AF65-F5344CB8AC3E}">
        <p14:creationId xmlns:p14="http://schemas.microsoft.com/office/powerpoint/2010/main" val="11913444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Interaction styles</a:t>
            </a:r>
          </a:p>
        </p:txBody>
      </p:sp>
      <p:sp>
        <p:nvSpPr>
          <p:cNvPr id="3" name="Content Placeholder 2"/>
          <p:cNvSpPr>
            <a:spLocks noGrp="1"/>
          </p:cNvSpPr>
          <p:nvPr>
            <p:ph idx="1"/>
          </p:nvPr>
        </p:nvSpPr>
        <p:spPr/>
        <p:txBody>
          <a:bodyPr/>
          <a:lstStyle/>
          <a:p>
            <a:r>
              <a:rPr lang="en-US" dirty="0">
                <a:solidFill>
                  <a:srgbClr val="000000"/>
                </a:solidFill>
              </a:rPr>
              <a:t>Direct manipulation</a:t>
            </a:r>
          </a:p>
          <a:p>
            <a:r>
              <a:rPr lang="en-US" dirty="0">
                <a:solidFill>
                  <a:srgbClr val="000000"/>
                </a:solidFill>
              </a:rPr>
              <a:t>Menu selection</a:t>
            </a:r>
          </a:p>
          <a:p>
            <a:r>
              <a:rPr lang="en-US" dirty="0">
                <a:solidFill>
                  <a:srgbClr val="000000"/>
                </a:solidFill>
              </a:rPr>
              <a:t>Form fill-in</a:t>
            </a:r>
          </a:p>
          <a:p>
            <a:r>
              <a:rPr lang="en-US" dirty="0">
                <a:solidFill>
                  <a:srgbClr val="000000"/>
                </a:solidFill>
              </a:rPr>
              <a:t>Command language</a:t>
            </a:r>
          </a:p>
          <a:p>
            <a:r>
              <a:rPr lang="en-US" dirty="0">
                <a:solidFill>
                  <a:srgbClr val="000000"/>
                </a:solidFill>
              </a:rPr>
              <a:t>Natural language</a:t>
            </a:r>
          </a:p>
          <a:p>
            <a:endParaRPr lang="en-US" dirty="0"/>
          </a:p>
        </p:txBody>
      </p:sp>
    </p:spTree>
    <p:extLst>
      <p:ext uri="{BB962C8B-B14F-4D97-AF65-F5344CB8AC3E}">
        <p14:creationId xmlns:p14="http://schemas.microsoft.com/office/powerpoint/2010/main" val="26451638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Advantages and disadvantages</a:t>
            </a:r>
          </a:p>
        </p:txBody>
      </p:sp>
      <p:pic>
        <p:nvPicPr>
          <p:cNvPr id="1126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05000" y="2362200"/>
            <a:ext cx="8610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87749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Data visualization</a:t>
            </a:r>
          </a:p>
        </p:txBody>
      </p:sp>
      <p:sp>
        <p:nvSpPr>
          <p:cNvPr id="3" name="Content Placeholder 2"/>
          <p:cNvSpPr>
            <a:spLocks noGrp="1"/>
          </p:cNvSpPr>
          <p:nvPr>
            <p:ph idx="1"/>
          </p:nvPr>
        </p:nvSpPr>
        <p:spPr>
          <a:xfrm>
            <a:off x="1143000" y="2362200"/>
            <a:ext cx="10566400" cy="4191000"/>
          </a:xfrm>
        </p:spPr>
        <p:txBody>
          <a:bodyPr/>
          <a:lstStyle/>
          <a:p>
            <a:r>
              <a:rPr lang="en-US" sz="2000" dirty="0">
                <a:solidFill>
                  <a:srgbClr val="000000"/>
                </a:solidFill>
              </a:rPr>
              <a:t>Concerned with techniques for displaying large amounts of information</a:t>
            </a:r>
          </a:p>
          <a:p>
            <a:r>
              <a:rPr lang="en-US" sz="2000" dirty="0">
                <a:solidFill>
                  <a:srgbClr val="000000"/>
                </a:solidFill>
              </a:rPr>
              <a:t>Visualization can reveal relationships between entities and trends in the data</a:t>
            </a:r>
          </a:p>
          <a:p>
            <a:r>
              <a:rPr lang="en-US" sz="2000" dirty="0">
                <a:solidFill>
                  <a:srgbClr val="000000"/>
                </a:solidFill>
              </a:rPr>
              <a:t>Possible data visualizations are:</a:t>
            </a:r>
          </a:p>
          <a:p>
            <a:r>
              <a:rPr lang="en-US" sz="2000" dirty="0">
                <a:solidFill>
                  <a:srgbClr val="000000"/>
                </a:solidFill>
              </a:rPr>
              <a:t>Weather information collected from a number of sources</a:t>
            </a:r>
          </a:p>
          <a:p>
            <a:r>
              <a:rPr lang="en-US" sz="2000" dirty="0">
                <a:solidFill>
                  <a:srgbClr val="000000"/>
                </a:solidFill>
              </a:rPr>
              <a:t>The state of a telephone network as a linked set of nodes</a:t>
            </a:r>
          </a:p>
          <a:p>
            <a:r>
              <a:rPr lang="en-US" sz="2000" dirty="0">
                <a:solidFill>
                  <a:srgbClr val="000000"/>
                </a:solidFill>
              </a:rPr>
              <a:t>Chemical plant visualized by showing pressures and temperatures in a linked set of tanks and pipes</a:t>
            </a:r>
          </a:p>
          <a:p>
            <a:r>
              <a:rPr lang="en-US" sz="2000" dirty="0">
                <a:solidFill>
                  <a:srgbClr val="000000"/>
                </a:solidFill>
              </a:rPr>
              <a:t>A model of a molecule displayed in 3 dimensions</a:t>
            </a:r>
          </a:p>
          <a:p>
            <a:r>
              <a:rPr lang="en-US" sz="2000" dirty="0">
                <a:solidFill>
                  <a:srgbClr val="000000"/>
                </a:solidFill>
              </a:rPr>
              <a:t>Web pages displayed as a hyperbolic tree</a:t>
            </a:r>
          </a:p>
          <a:p>
            <a:endParaRPr lang="en-US" dirty="0"/>
          </a:p>
        </p:txBody>
      </p:sp>
    </p:spTree>
    <p:extLst>
      <p:ext uri="{BB962C8B-B14F-4D97-AF65-F5344CB8AC3E}">
        <p14:creationId xmlns:p14="http://schemas.microsoft.com/office/powerpoint/2010/main" val="25605288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Color use guidelines</a:t>
            </a:r>
          </a:p>
        </p:txBody>
      </p:sp>
      <p:sp>
        <p:nvSpPr>
          <p:cNvPr id="3" name="Content Placeholder 2"/>
          <p:cNvSpPr>
            <a:spLocks noGrp="1"/>
          </p:cNvSpPr>
          <p:nvPr>
            <p:ph idx="1"/>
          </p:nvPr>
        </p:nvSpPr>
        <p:spPr/>
        <p:txBody>
          <a:bodyPr/>
          <a:lstStyle/>
          <a:p>
            <a:r>
              <a:rPr lang="en-US" sz="2000" dirty="0">
                <a:solidFill>
                  <a:srgbClr val="000000"/>
                </a:solidFill>
              </a:rPr>
              <a:t>Don't use too many colors</a:t>
            </a:r>
          </a:p>
          <a:p>
            <a:r>
              <a:rPr lang="en-US" sz="2000" dirty="0">
                <a:solidFill>
                  <a:srgbClr val="000000"/>
                </a:solidFill>
              </a:rPr>
              <a:t>Use color coding to support use tasks</a:t>
            </a:r>
          </a:p>
          <a:p>
            <a:r>
              <a:rPr lang="en-US" sz="2000" dirty="0">
                <a:solidFill>
                  <a:srgbClr val="000000"/>
                </a:solidFill>
              </a:rPr>
              <a:t>Allow users to control color coding</a:t>
            </a:r>
          </a:p>
          <a:p>
            <a:r>
              <a:rPr lang="en-US" sz="2000" dirty="0">
                <a:solidFill>
                  <a:srgbClr val="000000"/>
                </a:solidFill>
              </a:rPr>
              <a:t>Design for monochrome then add color</a:t>
            </a:r>
          </a:p>
          <a:p>
            <a:r>
              <a:rPr lang="en-US" sz="2000" dirty="0">
                <a:solidFill>
                  <a:srgbClr val="000000"/>
                </a:solidFill>
              </a:rPr>
              <a:t>Use color coding consistently</a:t>
            </a:r>
          </a:p>
          <a:p>
            <a:r>
              <a:rPr lang="en-US" sz="2000" dirty="0">
                <a:solidFill>
                  <a:srgbClr val="000000"/>
                </a:solidFill>
              </a:rPr>
              <a:t>Avoid color pairings which clash</a:t>
            </a:r>
          </a:p>
          <a:p>
            <a:r>
              <a:rPr lang="en-US" sz="2000" dirty="0">
                <a:solidFill>
                  <a:srgbClr val="000000"/>
                </a:solidFill>
              </a:rPr>
              <a:t>Use color change to show status change</a:t>
            </a:r>
          </a:p>
          <a:p>
            <a:r>
              <a:rPr lang="en-US" sz="2000" dirty="0">
                <a:solidFill>
                  <a:srgbClr val="000000"/>
                </a:solidFill>
              </a:rPr>
              <a:t>Be aware that color displays are usually lower </a:t>
            </a:r>
            <a:br>
              <a:rPr lang="en-US" sz="2000" dirty="0">
                <a:solidFill>
                  <a:srgbClr val="000000"/>
                </a:solidFill>
              </a:rPr>
            </a:br>
            <a:r>
              <a:rPr lang="en-US" sz="2000" dirty="0">
                <a:solidFill>
                  <a:srgbClr val="000000"/>
                </a:solidFill>
              </a:rPr>
              <a:t>resolution</a:t>
            </a:r>
          </a:p>
          <a:p>
            <a:endParaRPr lang="en-US" dirty="0"/>
          </a:p>
        </p:txBody>
      </p:sp>
    </p:spTree>
    <p:extLst>
      <p:ext uri="{BB962C8B-B14F-4D97-AF65-F5344CB8AC3E}">
        <p14:creationId xmlns:p14="http://schemas.microsoft.com/office/powerpoint/2010/main" val="4059843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User support </a:t>
            </a:r>
          </a:p>
        </p:txBody>
      </p:sp>
      <p:sp>
        <p:nvSpPr>
          <p:cNvPr id="3" name="Content Placeholder 2"/>
          <p:cNvSpPr>
            <a:spLocks noGrp="1"/>
          </p:cNvSpPr>
          <p:nvPr>
            <p:ph idx="1"/>
          </p:nvPr>
        </p:nvSpPr>
        <p:spPr/>
        <p:txBody>
          <a:bodyPr/>
          <a:lstStyle/>
          <a:p>
            <a:r>
              <a:rPr lang="en-US" sz="2000" dirty="0">
                <a:solidFill>
                  <a:srgbClr val="000000"/>
                </a:solidFill>
              </a:rPr>
              <a:t>User guidance covers all system facilities to support users including on-line help, error messages, manuals etc.</a:t>
            </a:r>
          </a:p>
          <a:p>
            <a:endParaRPr lang="en-US" sz="2000" dirty="0">
              <a:solidFill>
                <a:srgbClr val="000000"/>
              </a:solidFill>
            </a:endParaRPr>
          </a:p>
          <a:p>
            <a:endParaRPr lang="en-US" dirty="0"/>
          </a:p>
        </p:txBody>
      </p:sp>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3200400"/>
            <a:ext cx="76962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78327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Error messages</a:t>
            </a:r>
          </a:p>
        </p:txBody>
      </p:sp>
      <p:sp>
        <p:nvSpPr>
          <p:cNvPr id="3" name="Content Placeholder 2"/>
          <p:cNvSpPr>
            <a:spLocks noGrp="1"/>
          </p:cNvSpPr>
          <p:nvPr>
            <p:ph idx="1"/>
          </p:nvPr>
        </p:nvSpPr>
        <p:spPr/>
        <p:txBody>
          <a:bodyPr/>
          <a:lstStyle/>
          <a:p>
            <a:r>
              <a:rPr lang="en-US" sz="2000" dirty="0">
                <a:solidFill>
                  <a:srgbClr val="000000"/>
                </a:solidFill>
              </a:rPr>
              <a:t>Error message design is critically important. Poor error messages can mean that a user rejects rather than accepts a system.</a:t>
            </a:r>
          </a:p>
          <a:p>
            <a:r>
              <a:rPr lang="en-US" sz="2000" dirty="0">
                <a:solidFill>
                  <a:srgbClr val="000000"/>
                </a:solidFill>
              </a:rPr>
              <a:t>The background and experience of users should be the determining factor in message design.</a:t>
            </a:r>
          </a:p>
          <a:p>
            <a:endParaRPr lang="en-US"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12912" y="4222524"/>
            <a:ext cx="8726488" cy="2406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29175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User document types</a:t>
            </a:r>
          </a:p>
        </p:txBody>
      </p:sp>
      <p:pic>
        <p:nvPicPr>
          <p:cNvPr id="1433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209800" y="2438400"/>
            <a:ext cx="83058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06783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User document types</a:t>
            </a:r>
          </a:p>
        </p:txBody>
      </p:sp>
      <p:sp>
        <p:nvSpPr>
          <p:cNvPr id="3" name="Content Placeholder 2"/>
          <p:cNvSpPr>
            <a:spLocks noGrp="1"/>
          </p:cNvSpPr>
          <p:nvPr>
            <p:ph idx="1"/>
          </p:nvPr>
        </p:nvSpPr>
        <p:spPr/>
        <p:txBody>
          <a:bodyPr/>
          <a:lstStyle/>
          <a:p>
            <a:r>
              <a:rPr lang="en-US" sz="2000" dirty="0">
                <a:solidFill>
                  <a:srgbClr val="000000"/>
                </a:solidFill>
              </a:rPr>
              <a:t>Functional description</a:t>
            </a:r>
          </a:p>
          <a:p>
            <a:pPr marL="0" indent="0">
              <a:buNone/>
            </a:pPr>
            <a:r>
              <a:rPr lang="en-US" sz="2000" dirty="0">
                <a:solidFill>
                  <a:srgbClr val="000000"/>
                </a:solidFill>
              </a:rPr>
              <a:t>         -Brief description of what the system can do</a:t>
            </a:r>
          </a:p>
          <a:p>
            <a:r>
              <a:rPr lang="en-US" sz="2000" dirty="0">
                <a:solidFill>
                  <a:srgbClr val="000000"/>
                </a:solidFill>
              </a:rPr>
              <a:t>Introductory manual</a:t>
            </a:r>
          </a:p>
          <a:p>
            <a:pPr marL="0" indent="0">
              <a:buNone/>
            </a:pPr>
            <a:r>
              <a:rPr lang="en-US" sz="2000" dirty="0">
                <a:solidFill>
                  <a:srgbClr val="000000"/>
                </a:solidFill>
              </a:rPr>
              <a:t>         -Presents an informal introduction to the system</a:t>
            </a:r>
          </a:p>
          <a:p>
            <a:r>
              <a:rPr lang="en-US" sz="2000" dirty="0">
                <a:solidFill>
                  <a:srgbClr val="000000"/>
                </a:solidFill>
              </a:rPr>
              <a:t>System reference manual</a:t>
            </a:r>
          </a:p>
          <a:p>
            <a:pPr marL="0" indent="0">
              <a:buNone/>
            </a:pPr>
            <a:r>
              <a:rPr lang="en-US" sz="2000" dirty="0">
                <a:solidFill>
                  <a:srgbClr val="000000"/>
                </a:solidFill>
              </a:rPr>
              <a:t>         -Describes all system facilities in detail</a:t>
            </a:r>
          </a:p>
          <a:p>
            <a:r>
              <a:rPr lang="en-US" sz="2000" dirty="0">
                <a:solidFill>
                  <a:srgbClr val="000000"/>
                </a:solidFill>
              </a:rPr>
              <a:t>System installation manual</a:t>
            </a:r>
          </a:p>
          <a:p>
            <a:pPr marL="0" indent="0">
              <a:buNone/>
            </a:pPr>
            <a:r>
              <a:rPr lang="en-US" sz="2000" dirty="0">
                <a:solidFill>
                  <a:srgbClr val="000000"/>
                </a:solidFill>
              </a:rPr>
              <a:t>         -Describes how to install the system</a:t>
            </a:r>
          </a:p>
          <a:p>
            <a:r>
              <a:rPr lang="en-US" sz="2000" dirty="0">
                <a:solidFill>
                  <a:srgbClr val="000000"/>
                </a:solidFill>
              </a:rPr>
              <a:t>System administrator’s manual</a:t>
            </a:r>
          </a:p>
          <a:p>
            <a:pPr marL="0" indent="0">
              <a:buNone/>
            </a:pPr>
            <a:r>
              <a:rPr lang="en-US" sz="2000" dirty="0">
                <a:solidFill>
                  <a:srgbClr val="000000"/>
                </a:solidFill>
              </a:rPr>
              <a:t>         -Describes how to manage the system when it is in use</a:t>
            </a:r>
          </a:p>
          <a:p>
            <a:endParaRPr lang="en-US" dirty="0"/>
          </a:p>
        </p:txBody>
      </p:sp>
    </p:spTree>
    <p:extLst>
      <p:ext uri="{BB962C8B-B14F-4D97-AF65-F5344CB8AC3E}">
        <p14:creationId xmlns:p14="http://schemas.microsoft.com/office/powerpoint/2010/main" val="2551432874"/>
      </p:ext>
    </p:extLst>
  </p:cSld>
  <p:clrMapOvr>
    <a:masterClrMapping/>
  </p:clrMapOvr>
</p:sld>
</file>

<file path=ppt/theme/theme1.xml><?xml version="1.0" encoding="utf-8"?>
<a:theme xmlns:a="http://schemas.openxmlformats.org/drawingml/2006/main" name="Capsules design template">
  <a:themeElements>
    <a:clrScheme name="Office Theme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charset="0"/>
          </a:defRPr>
        </a:defPPr>
      </a:lstStyle>
    </a:lnDef>
  </a:objectDefaults>
  <a:extraClrSchemeLst>
    <a:extraClrScheme>
      <a:clrScheme name="Office Theme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Office Theme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Office Theme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Office Theme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Office Theme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Office Theme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Office Theme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Capsules design template</Template>
  <TotalTime>2194</TotalTime>
  <Words>2926</Words>
  <Application>Microsoft Office PowerPoint</Application>
  <PresentationFormat>Widescreen</PresentationFormat>
  <Paragraphs>264</Paragraphs>
  <Slides>53</Slides>
  <Notes>0</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Arial</vt:lpstr>
      <vt:lpstr>Calibri</vt:lpstr>
      <vt:lpstr>Heebo</vt:lpstr>
      <vt:lpstr>Nunito</vt:lpstr>
      <vt:lpstr>source-serif-pro</vt:lpstr>
      <vt:lpstr>Times New Roman</vt:lpstr>
      <vt:lpstr>Wingdings</vt:lpstr>
      <vt:lpstr>Capsules design template</vt:lpstr>
      <vt:lpstr>Design</vt:lpstr>
      <vt:lpstr>Software Design</vt:lpstr>
      <vt:lpstr>Why software design is important?</vt:lpstr>
      <vt:lpstr>Why software design is important?</vt:lpstr>
      <vt:lpstr>Software Design Approaches</vt:lpstr>
      <vt:lpstr>PowerPoint Presentation</vt:lpstr>
      <vt:lpstr>Software Design Approaches</vt:lpstr>
      <vt:lpstr>Software Design Approaches</vt:lpstr>
      <vt:lpstr>Software Design Strategies</vt:lpstr>
      <vt:lpstr>PowerPoint Presentation</vt:lpstr>
      <vt:lpstr>What is a component?</vt:lpstr>
      <vt:lpstr>What is Comp. Level Design?</vt:lpstr>
      <vt:lpstr>PowerPoint Presentation</vt:lpstr>
      <vt:lpstr>Object-oriented View</vt:lpstr>
      <vt:lpstr>Class Elaboration</vt:lpstr>
      <vt:lpstr>Component-level Design Principles </vt:lpstr>
      <vt:lpstr>Component-level Design Principles </vt:lpstr>
      <vt:lpstr>Component-Level Design Steps</vt:lpstr>
      <vt:lpstr>Steps 1 &amp; 2 – Identify Classes</vt:lpstr>
      <vt:lpstr>Step 3 – Class Elaboration</vt:lpstr>
      <vt:lpstr>3a. Collaboration Details</vt:lpstr>
      <vt:lpstr>3a. Collaboration Details</vt:lpstr>
      <vt:lpstr>3b. Appropriate Interfaces</vt:lpstr>
      <vt:lpstr>3c. Elaborate Attributes</vt:lpstr>
      <vt:lpstr>3d. Describe  Processing Flow</vt:lpstr>
      <vt:lpstr>Step 4 – Persistent Data Step 5 – Elaborate Behavior</vt:lpstr>
      <vt:lpstr>PowerPoint Presentation</vt:lpstr>
      <vt:lpstr>Step 6 –  Elab. Deployment</vt:lpstr>
      <vt:lpstr>PowerPoint Presentation</vt:lpstr>
      <vt:lpstr>Step 7 – Redesign/Reconsider</vt:lpstr>
      <vt:lpstr>PowerPoint Presentation</vt:lpstr>
      <vt:lpstr>Conventional View</vt:lpstr>
      <vt:lpstr>Introduction</vt:lpstr>
      <vt:lpstr>Introduction</vt:lpstr>
      <vt:lpstr>Graphical Design Notation</vt:lpstr>
      <vt:lpstr>Graphical Design Notation</vt:lpstr>
      <vt:lpstr>Graphical Example used for Algorithm Analysis</vt:lpstr>
      <vt:lpstr>Tabular Design Notation</vt:lpstr>
      <vt:lpstr>Tabular Design Notation</vt:lpstr>
      <vt:lpstr>PowerPoint Presentation</vt:lpstr>
      <vt:lpstr>Program Design Language(PDL)</vt:lpstr>
      <vt:lpstr>The user interface</vt:lpstr>
      <vt:lpstr>UI design principles</vt:lpstr>
      <vt:lpstr>UI design principles</vt:lpstr>
      <vt:lpstr>User-system interaction</vt:lpstr>
      <vt:lpstr>Interaction styles</vt:lpstr>
      <vt:lpstr>Advantages and disadvantages</vt:lpstr>
      <vt:lpstr>Data visualization</vt:lpstr>
      <vt:lpstr>Color use guidelines</vt:lpstr>
      <vt:lpstr>User support </vt:lpstr>
      <vt:lpstr>Error messages</vt:lpstr>
      <vt:lpstr>User document types</vt:lpstr>
      <vt:lpstr>User document types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chaity</dc:creator>
  <cp:lastModifiedBy>Abdullah Al Shiam</cp:lastModifiedBy>
  <cp:revision>365</cp:revision>
  <cp:lastPrinted>1601-01-01T00:00:00Z</cp:lastPrinted>
  <dcterms:created xsi:type="dcterms:W3CDTF">2016-01-12T00:51:39Z</dcterms:created>
  <dcterms:modified xsi:type="dcterms:W3CDTF">2023-03-14T17:20:59Z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TC102037801033</vt:lpwstr>
  </property>
</Properties>
</file>